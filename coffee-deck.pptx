
<file path=[Content_Types].xml><?xml version="1.0" encoding="utf-8"?>
<Types xmlns="http://schemas.openxmlformats.org/package/2006/content-types">
  <Default Extension="bmp" ContentType="image/bmp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ebp" ContentType="image/webp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center-title"/>
          <p:cNvSpPr/>
          <p:nvPr>
            <p:ph type="ctrTitle"/>
          </p:nvPr>
        </p:nvSpPr>
        <p:spPr>
          <a:xfrm>
            <a:off x="609600" y="192024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subtitle"/>
          <p:cNvSpPr/>
          <p:nvPr>
            <p:ph type="subTitle"/>
          </p:nvPr>
        </p:nvSpPr>
        <p:spPr>
          <a:xfrm>
            <a:off x="609600" y="339344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body"/>
          <p:cNvSpPr/>
          <p:nvPr>
            <p:ph type="body"/>
          </p:nvPr>
        </p:nvSpPr>
        <p:spPr>
          <a:xfrm>
            <a:off x="609600" y="1625600"/>
            <a:ext cx="109728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center-title"/>
          <p:cNvSpPr/>
          <p:nvPr>
            <p:ph type="ctrTitle"/>
          </p:nvPr>
        </p:nvSpPr>
        <p:spPr>
          <a:xfrm>
            <a:off x="609600" y="171450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text"/>
          <p:cNvSpPr/>
          <p:nvPr>
            <p:ph type="body"/>
          </p:nvPr>
        </p:nvSpPr>
        <p:spPr>
          <a:xfrm>
            <a:off x="609600" y="31877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body-left"/>
          <p:cNvSpPr/>
          <p:nvPr>
            <p:ph type="body" idx="1"/>
          </p:nvPr>
        </p:nvSpPr>
        <p:spPr>
          <a:xfrm>
            <a:off x="609600" y="1625600"/>
            <a:ext cx="53594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ph-body-right"/>
          <p:cNvSpPr/>
          <p:nvPr>
            <p:ph type="body" idx="2"/>
          </p:nvPr>
        </p:nvSpPr>
        <p:spPr>
          <a:xfrm>
            <a:off x="6223000" y="1625600"/>
            <a:ext cx="53594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text-left"/>
          <p:cNvSpPr/>
          <p:nvPr>
            <p:ph type="body" idx="1"/>
          </p:nvPr>
        </p:nvSpPr>
        <p:spPr>
          <a:xfrm>
            <a:off x="609600" y="1625600"/>
            <a:ext cx="53594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ph-text-right"/>
          <p:cNvSpPr/>
          <p:nvPr>
            <p:ph type="body" idx="2"/>
          </p:nvPr>
        </p:nvSpPr>
        <p:spPr>
          <a:xfrm>
            <a:off x="6223000" y="1625600"/>
            <a:ext cx="53594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5" name="ph-body-left"/>
          <p:cNvSpPr/>
          <p:nvPr>
            <p:ph type="body" idx="1"/>
          </p:nvPr>
        </p:nvSpPr>
        <p:spPr>
          <a:xfrm>
            <a:off x="609600" y="2235200"/>
            <a:ext cx="5359400" cy="42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6" name="ph-body-right"/>
          <p:cNvSpPr/>
          <p:nvPr>
            <p:ph type="body" idx="2"/>
          </p:nvPr>
        </p:nvSpPr>
        <p:spPr>
          <a:xfrm>
            <a:off x="6223000" y="2235200"/>
            <a:ext cx="5359400" cy="42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picture"/>
          <p:cNvSpPr/>
          <p:nvPr>
            <p:ph type="pic"/>
          </p:nvPr>
        </p:nvSpPr>
        <p:spPr>
          <a:xfrm>
            <a:off x="609600" y="406400"/>
            <a:ext cx="10972800" cy="4927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caption"/>
          <p:cNvSpPr/>
          <p:nvPr>
            <p:ph type="body"/>
          </p:nvPr>
        </p:nvSpPr>
        <p:spPr>
          <a:xfrm>
            <a:off x="609600" y="55372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3A6B"/>
              </a:gs>
              <a:gs pos="100000">
                <a:srgbClr val="2F6FED"/>
              </a:gs>
            </a:gsLst>
            <a:lin ang="3660000" scaled="1"/>
          </a:gra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ellipse 1"/>
          <p:cNvSpPr/>
          <p:nvPr/>
        </p:nvSpPr>
        <p:spPr>
          <a:xfrm>
            <a:off x="8509000" y="-762000"/>
            <a:ext cx="3810000" cy="3810000"/>
          </a:xfrm>
          <a:prstGeom prst="ellipse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ellipse 2"/>
          <p:cNvSpPr/>
          <p:nvPr/>
        </p:nvSpPr>
        <p:spPr>
          <a:xfrm>
            <a:off x="9017000" y="3048000"/>
            <a:ext cx="4826000" cy="48260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5" name="rect 2"/>
          <p:cNvSpPr/>
          <p:nvPr/>
        </p:nvSpPr>
        <p:spPr>
          <a:xfrm>
            <a:off x="1016000" y="1905000"/>
            <a:ext cx="609600" cy="635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6" name="rect 3"/>
          <p:cNvSpPr/>
          <p:nvPr/>
        </p:nvSpPr>
        <p:spPr>
          <a:xfrm>
            <a:off x="1016000" y="2133600"/>
            <a:ext cx="5969000" cy="635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大学生咖啡消费偏好调查</a:t>
            </a:r>
          </a:p>
        </p:txBody>
      </p:sp>
      <p:sp>
        <p:nvSpPr>
          <p:cNvPr id="7" name="rect 4"/>
          <p:cNvSpPr/>
          <p:nvPr/>
        </p:nvSpPr>
        <p:spPr>
          <a:xfrm>
            <a:off x="1016000" y="2971800"/>
            <a:ext cx="29464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3000"/>
              </a:lnSpc>
              <a:buNone/>
            </a:pPr>
            <a:r>
              <a:rPr lang="zh-CN" sz="17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基于本校 4 个年级的问卷调研</a:t>
            </a:r>
          </a:p>
        </p:txBody>
      </p:sp>
      <p:sp>
        <p:nvSpPr>
          <p:cNvPr id="8" name="rect 5"/>
          <p:cNvSpPr/>
          <p:nvPr/>
        </p:nvSpPr>
        <p:spPr>
          <a:xfrm>
            <a:off x="1016000" y="5270500"/>
            <a:ext cx="1701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4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课程：社会调查方法</a:t>
            </a:r>
          </a:p>
        </p:txBody>
      </p:sp>
      <p:sp>
        <p:nvSpPr>
          <p:cNvPr id="9" name="rect 6"/>
          <p:cNvSpPr/>
          <p:nvPr/>
        </p:nvSpPr>
        <p:spPr>
          <a:xfrm>
            <a:off x="1016000" y="5600700"/>
            <a:ext cx="2590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4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小组：江晓　温言　罗青　方悦</a:t>
            </a:r>
          </a:p>
        </p:txBody>
      </p:sp>
      <p:sp>
        <p:nvSpPr>
          <p:cNvPr id="10" name="rect 7"/>
          <p:cNvSpPr/>
          <p:nvPr/>
        </p:nvSpPr>
        <p:spPr>
          <a:xfrm>
            <a:off x="1016000" y="5930900"/>
            <a:ext cx="774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en-US" sz="1400">
                <a:solidFill>
                  <a:srgbClr val="FFFFFF">
                    <a:alpha val="55000"/>
                  </a:srgbClr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1016000" y="1041400"/>
            <a:ext cx="292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en-US" sz="1300">
                <a:solidFill>
                  <a:srgbClr val="2F6FED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01</a:t>
            </a:r>
          </a:p>
        </p:txBody>
      </p:sp>
      <p:sp>
        <p:nvSpPr>
          <p:cNvPr id="4" name="rect 3"/>
          <p:cNvSpPr/>
          <p:nvPr/>
        </p:nvSpPr>
        <p:spPr>
          <a:xfrm>
            <a:off x="1524000" y="1041400"/>
            <a:ext cx="762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zh-CN" sz="1300">
                <a:solidFill>
                  <a:srgbClr val="9AA1A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研究背景</a:t>
            </a:r>
          </a:p>
        </p:txBody>
      </p:sp>
      <p:sp>
        <p:nvSpPr>
          <p:cNvPr id="5" name="rect 4"/>
          <p:cNvSpPr/>
          <p:nvPr/>
        </p:nvSpPr>
        <p:spPr>
          <a:xfrm>
            <a:off x="1016000" y="1447800"/>
            <a:ext cx="3530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CN" sz="3000" b="1">
                <a:solidFill>
                  <a:srgbClr val="1F242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我们为什么研究咖啡</a:t>
            </a:r>
          </a:p>
        </p:txBody>
      </p:sp>
      <p:sp>
        <p:nvSpPr>
          <p:cNvPr id="6" name="rect 5"/>
          <p:cNvSpPr/>
          <p:nvPr/>
        </p:nvSpPr>
        <p:spPr>
          <a:xfrm>
            <a:off x="1016000" y="2070100"/>
            <a:ext cx="2768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400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三件事让我们决定把题目定在这里</a:t>
            </a:r>
          </a:p>
        </p:txBody>
      </p:sp>
      <p:sp>
        <p:nvSpPr>
          <p:cNvPr id="7" name="roundRect 1"/>
          <p:cNvSpPr/>
          <p:nvPr/>
        </p:nvSpPr>
        <p:spPr>
          <a:xfrm>
            <a:off x="1016000" y="2692400"/>
            <a:ext cx="3149600" cy="2489200"/>
          </a:xfrm>
          <a:prstGeom prst="roundRect">
            <a:avLst>
              <a:gd fmla="val 6122" name="adj"/>
            </a:avLst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 6"/>
          <p:cNvSpPr/>
          <p:nvPr/>
        </p:nvSpPr>
        <p:spPr>
          <a:xfrm>
            <a:off x="1320800" y="3073400"/>
            <a:ext cx="304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en-US" sz="1300" b="1">
                <a:solidFill>
                  <a:srgbClr val="2F6FED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01</a:t>
            </a:r>
          </a:p>
        </p:txBody>
      </p:sp>
      <p:sp>
        <p:nvSpPr>
          <p:cNvPr id="9" name="rect 7"/>
          <p:cNvSpPr/>
          <p:nvPr/>
        </p:nvSpPr>
        <p:spPr>
          <a:xfrm>
            <a:off x="1320800" y="3479800"/>
            <a:ext cx="2197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CN" sz="1500" b="1">
                <a:solidFill>
                  <a:srgbClr val="1F242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咖啡消费在校园快速增长</a:t>
            </a:r>
          </a:p>
        </p:txBody>
      </p:sp>
      <p:sp>
        <p:nvSpPr>
          <p:cNvPr id="10" name="rect 8"/>
          <p:cNvSpPr/>
          <p:nvPr/>
        </p:nvSpPr>
        <p:spPr>
          <a:xfrm>
            <a:off x="1320800" y="3924300"/>
            <a:ext cx="22860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CN" sz="1200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校内咖啡门店由 3 家增至 7 家，</a:t>
            </a:r>
          </a:p>
        </p:txBody>
      </p:sp>
      <p:sp>
        <p:nvSpPr>
          <p:cNvPr id="11" name="rect 9"/>
          <p:cNvSpPr/>
          <p:nvPr/>
        </p:nvSpPr>
        <p:spPr>
          <a:xfrm>
            <a:off x="1320800" y="4203700"/>
            <a:ext cx="19812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CN" sz="1200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平均排队时长上升约 40%。</a:t>
            </a:r>
          </a:p>
        </p:txBody>
      </p:sp>
      <p:sp>
        <p:nvSpPr>
          <p:cNvPr id="12" name="roundRect 2"/>
          <p:cNvSpPr/>
          <p:nvPr/>
        </p:nvSpPr>
        <p:spPr>
          <a:xfrm>
            <a:off x="4419600" y="2692400"/>
            <a:ext cx="3149600" cy="2489200"/>
          </a:xfrm>
          <a:prstGeom prst="roundRect">
            <a:avLst>
              <a:gd fmla="val 6122" name="adj"/>
            </a:avLst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 10"/>
          <p:cNvSpPr/>
          <p:nvPr/>
        </p:nvSpPr>
        <p:spPr>
          <a:xfrm>
            <a:off x="4724400" y="3073400"/>
            <a:ext cx="304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en-US" sz="1300" b="1">
                <a:solidFill>
                  <a:srgbClr val="2F6FED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02</a:t>
            </a:r>
          </a:p>
        </p:txBody>
      </p:sp>
      <p:sp>
        <p:nvSpPr>
          <p:cNvPr id="14" name="rect 11"/>
          <p:cNvSpPr/>
          <p:nvPr/>
        </p:nvSpPr>
        <p:spPr>
          <a:xfrm>
            <a:off x="4724400" y="3479800"/>
            <a:ext cx="1625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CN" sz="1500" b="1">
                <a:solidFill>
                  <a:srgbClr val="1F242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消费动机存在争议</a:t>
            </a:r>
          </a:p>
        </p:txBody>
      </p:sp>
      <p:sp>
        <p:nvSpPr>
          <p:cNvPr id="15" name="rect 12"/>
          <p:cNvSpPr/>
          <p:nvPr/>
        </p:nvSpPr>
        <p:spPr>
          <a:xfrm>
            <a:off x="4724400" y="3924300"/>
            <a:ext cx="22352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CN" sz="1200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既有研究认为咖啡是功能饮品，</a:t>
            </a:r>
          </a:p>
        </p:txBody>
      </p:sp>
      <p:sp>
        <p:nvSpPr>
          <p:cNvPr id="16" name="rect 13"/>
          <p:cNvSpPr/>
          <p:nvPr/>
        </p:nvSpPr>
        <p:spPr>
          <a:xfrm>
            <a:off x="4724400" y="4203700"/>
            <a:ext cx="25400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CN" sz="1200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也有人指出它是社交与打卡的道具。</a:t>
            </a:r>
          </a:p>
        </p:txBody>
      </p:sp>
      <p:sp>
        <p:nvSpPr>
          <p:cNvPr id="17" name="roundRect 3"/>
          <p:cNvSpPr/>
          <p:nvPr/>
        </p:nvSpPr>
        <p:spPr>
          <a:xfrm>
            <a:off x="7823200" y="2692400"/>
            <a:ext cx="3149600" cy="2489200"/>
          </a:xfrm>
          <a:prstGeom prst="roundRect">
            <a:avLst>
              <a:gd fmla="val 6122" name="adj"/>
            </a:avLst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 14"/>
          <p:cNvSpPr/>
          <p:nvPr/>
        </p:nvSpPr>
        <p:spPr>
          <a:xfrm>
            <a:off x="8128000" y="3073400"/>
            <a:ext cx="304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en-US" sz="1300" b="1">
                <a:solidFill>
                  <a:srgbClr val="2F6FED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03</a:t>
            </a:r>
          </a:p>
        </p:txBody>
      </p:sp>
      <p:sp>
        <p:nvSpPr>
          <p:cNvPr id="19" name="rect 15"/>
          <p:cNvSpPr/>
          <p:nvPr/>
        </p:nvSpPr>
        <p:spPr>
          <a:xfrm>
            <a:off x="8128000" y="3479800"/>
            <a:ext cx="1244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CN" sz="1500" b="1">
                <a:solidFill>
                  <a:srgbClr val="1F242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结论并不一致</a:t>
            </a:r>
          </a:p>
        </p:txBody>
      </p:sp>
      <p:sp>
        <p:nvSpPr>
          <p:cNvPr id="20" name="rect 16"/>
          <p:cNvSpPr/>
          <p:nvPr/>
        </p:nvSpPr>
        <p:spPr>
          <a:xfrm>
            <a:off x="8128000" y="3924300"/>
            <a:ext cx="23876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CN" sz="1200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关于“为什么买”，现有研究给出</a:t>
            </a:r>
          </a:p>
        </p:txBody>
      </p:sp>
      <p:sp>
        <p:nvSpPr>
          <p:cNvPr id="21" name="rect 17"/>
          <p:cNvSpPr/>
          <p:nvPr/>
        </p:nvSpPr>
        <p:spPr>
          <a:xfrm>
            <a:off x="8128000" y="4203700"/>
            <a:ext cx="23876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CN" sz="1200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的答案彼此矛盾，需要本地数据。</a:t>
            </a:r>
          </a:p>
        </p:txBody>
      </p:sp>
      <p:sp>
        <p:nvSpPr>
          <p:cNvPr id="22" name="rect 18"/>
          <p:cNvSpPr/>
          <p:nvPr/>
        </p:nvSpPr>
        <p:spPr>
          <a:xfrm>
            <a:off x="1016000" y="5740400"/>
            <a:ext cx="10160000" cy="12700"/>
          </a:xfrm>
          <a:prstGeom prst="rect">
            <a:avLst/>
          </a:prstGeom>
          <a:solidFill>
            <a:srgbClr val="E6EBF2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3" name="rect 19"/>
          <p:cNvSpPr/>
          <p:nvPr/>
        </p:nvSpPr>
        <p:spPr>
          <a:xfrm>
            <a:off x="1016000" y="5969000"/>
            <a:ext cx="3530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zh-CN" sz="1300">
                <a:solidFill>
                  <a:srgbClr val="9AA1A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数据来源：本校后勤集团门店公告（2026.09）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1016000" y="1041400"/>
            <a:ext cx="292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en-US" sz="1300">
                <a:solidFill>
                  <a:srgbClr val="2F6FED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02</a:t>
            </a:r>
          </a:p>
        </p:txBody>
      </p:sp>
      <p:sp>
        <p:nvSpPr>
          <p:cNvPr id="4" name="rect 3"/>
          <p:cNvSpPr/>
          <p:nvPr/>
        </p:nvSpPr>
        <p:spPr>
          <a:xfrm>
            <a:off x="1524000" y="1041400"/>
            <a:ext cx="762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zh-CN" sz="1300">
                <a:solidFill>
                  <a:srgbClr val="9AA1A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研究方法</a:t>
            </a:r>
          </a:p>
        </p:txBody>
      </p:sp>
      <p:sp>
        <p:nvSpPr>
          <p:cNvPr id="5" name="rect 4"/>
          <p:cNvSpPr/>
          <p:nvPr/>
        </p:nvSpPr>
        <p:spPr>
          <a:xfrm>
            <a:off x="1016000" y="1447800"/>
            <a:ext cx="3149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CN" sz="3000" b="1">
                <a:solidFill>
                  <a:srgbClr val="1F242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我们发了一份问卷</a:t>
            </a:r>
          </a:p>
        </p:txBody>
      </p:sp>
      <p:sp>
        <p:nvSpPr>
          <p:cNvPr id="6" name="rect 5"/>
          <p:cNvSpPr/>
          <p:nvPr/>
        </p:nvSpPr>
        <p:spPr>
          <a:xfrm>
            <a:off x="1016000" y="2070100"/>
            <a:ext cx="35179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400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线上发放，覆盖 4 个年级，回收后逐份检查</a:t>
            </a:r>
          </a:p>
        </p:txBody>
      </p:sp>
      <p:sp>
        <p:nvSpPr>
          <p:cNvPr id="7" name="roundRect 1"/>
          <p:cNvSpPr/>
          <p:nvPr/>
        </p:nvSpPr>
        <p:spPr>
          <a:xfrm>
            <a:off x="1016000" y="2692400"/>
            <a:ext cx="3149600" cy="1905000"/>
          </a:xfrm>
          <a:prstGeom prst="roundRect">
            <a:avLst>
              <a:gd fmla="val 8000" name="adj"/>
            </a:avLst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 6"/>
          <p:cNvSpPr/>
          <p:nvPr/>
        </p:nvSpPr>
        <p:spPr>
          <a:xfrm>
            <a:off x="1320800" y="2933700"/>
            <a:ext cx="1612900" cy="787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5200" b="1">
                <a:solidFill>
                  <a:srgbClr val="2F6FED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200</a:t>
            </a:r>
            <a:r>
              <a:rPr lang="zh-CN" sz="1800" b="1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份</a:t>
            </a:r>
          </a:p>
        </p:txBody>
      </p:sp>
      <p:sp>
        <p:nvSpPr>
          <p:cNvPr id="9" name="rect 7"/>
          <p:cNvSpPr/>
          <p:nvPr/>
        </p:nvSpPr>
        <p:spPr>
          <a:xfrm>
            <a:off x="1320800" y="3911600"/>
            <a:ext cx="762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zh-CN" sz="1300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发放问卷</a:t>
            </a:r>
          </a:p>
        </p:txBody>
      </p:sp>
      <p:sp>
        <p:nvSpPr>
          <p:cNvPr id="10" name="roundRect 2"/>
          <p:cNvSpPr/>
          <p:nvPr/>
        </p:nvSpPr>
        <p:spPr>
          <a:xfrm>
            <a:off x="4419600" y="2692400"/>
            <a:ext cx="3149600" cy="1905000"/>
          </a:xfrm>
          <a:prstGeom prst="roundRect">
            <a:avLst>
              <a:gd fmla="val 8000" name="adj"/>
            </a:avLst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 8"/>
          <p:cNvSpPr/>
          <p:nvPr/>
        </p:nvSpPr>
        <p:spPr>
          <a:xfrm>
            <a:off x="4724400" y="2933700"/>
            <a:ext cx="1206500" cy="787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5200" b="1">
                <a:solidFill>
                  <a:srgbClr val="2F6FED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86</a:t>
            </a:r>
            <a:r>
              <a:rPr lang="zh-CN" sz="1800" b="1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份</a:t>
            </a:r>
          </a:p>
        </p:txBody>
      </p:sp>
      <p:sp>
        <p:nvSpPr>
          <p:cNvPr id="12" name="rect 9"/>
          <p:cNvSpPr/>
          <p:nvPr/>
        </p:nvSpPr>
        <p:spPr>
          <a:xfrm>
            <a:off x="4724400" y="3911600"/>
            <a:ext cx="762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zh-CN" sz="1300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回收问卷</a:t>
            </a:r>
          </a:p>
        </p:txBody>
      </p:sp>
      <p:sp>
        <p:nvSpPr>
          <p:cNvPr id="13" name="roundRect 3"/>
          <p:cNvSpPr/>
          <p:nvPr/>
        </p:nvSpPr>
        <p:spPr>
          <a:xfrm>
            <a:off x="7823200" y="2692400"/>
            <a:ext cx="3149600" cy="1905000"/>
          </a:xfrm>
          <a:prstGeom prst="roundRect">
            <a:avLst>
              <a:gd fmla="val 8000" name="adj"/>
            </a:avLst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 10"/>
          <p:cNvSpPr/>
          <p:nvPr/>
        </p:nvSpPr>
        <p:spPr>
          <a:xfrm>
            <a:off x="8128000" y="2933700"/>
            <a:ext cx="1130300" cy="787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5200" b="1">
                <a:solidFill>
                  <a:srgbClr val="2F6FED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43</a:t>
            </a:r>
            <a:r>
              <a:rPr lang="en-US" sz="1800" b="1">
                <a:solidFill>
                  <a:srgbClr val="6B7480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%</a:t>
            </a:r>
          </a:p>
        </p:txBody>
      </p:sp>
      <p:sp>
        <p:nvSpPr>
          <p:cNvPr id="15" name="rect 11"/>
          <p:cNvSpPr/>
          <p:nvPr/>
        </p:nvSpPr>
        <p:spPr>
          <a:xfrm>
            <a:off x="8128000" y="3911600"/>
            <a:ext cx="596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zh-CN" sz="1300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回收率</a:t>
            </a:r>
          </a:p>
        </p:txBody>
      </p:sp>
      <p:sp>
        <p:nvSpPr>
          <p:cNvPr id="16" name="roundRect 4"/>
          <p:cNvSpPr/>
          <p:nvPr/>
        </p:nvSpPr>
        <p:spPr>
          <a:xfrm>
            <a:off x="1016000" y="4978400"/>
            <a:ext cx="10160000" cy="12192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w="12700">
            <a:solidFill>
              <a:srgbClr val="E6EBF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2"/>
          <p:cNvSpPr/>
          <p:nvPr/>
        </p:nvSpPr>
        <p:spPr>
          <a:xfrm>
            <a:off x="1320800" y="5219700"/>
            <a:ext cx="812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400" b="1">
                <a:solidFill>
                  <a:srgbClr val="1F242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问卷结构</a:t>
            </a:r>
          </a:p>
        </p:txBody>
      </p:sp>
      <p:sp>
        <p:nvSpPr>
          <p:cNvPr id="18" name="rect 13"/>
          <p:cNvSpPr/>
          <p:nvPr/>
        </p:nvSpPr>
        <p:spPr>
          <a:xfrm>
            <a:off x="1320800" y="5588000"/>
            <a:ext cx="6451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zh-CN" sz="1300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共 12 题：单选题 9 道，多选题 2 道，开放题 1 道。第 7 题测量购买咖啡的主要动机。</a:t>
            </a:r>
          </a:p>
        </p:txBody>
      </p:sp>
      <p:sp>
        <p:nvSpPr>
          <p:cNvPr id="19" name="rect 14"/>
          <p:cNvSpPr/>
          <p:nvPr/>
        </p:nvSpPr>
        <p:spPr>
          <a:xfrm>
            <a:off x="1320800" y="5867400"/>
            <a:ext cx="5207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zh-CN" sz="1300">
                <a:solidFill>
                  <a:srgbClr val="9AA1A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发放时间：2026.10.10 – 10.14　　渠道：班级群、宿舍楼群、朋友圈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1016000" y="1041400"/>
            <a:ext cx="292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en-US" sz="1300">
                <a:solidFill>
                  <a:srgbClr val="2F6FED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03</a:t>
            </a:r>
          </a:p>
        </p:txBody>
      </p:sp>
      <p:sp>
        <p:nvSpPr>
          <p:cNvPr id="4" name="rect 3"/>
          <p:cNvSpPr/>
          <p:nvPr/>
        </p:nvSpPr>
        <p:spPr>
          <a:xfrm>
            <a:off x="1524000" y="1041400"/>
            <a:ext cx="762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zh-CN" sz="1300">
                <a:solidFill>
                  <a:srgbClr val="9AA1A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样本构成</a:t>
            </a:r>
          </a:p>
        </p:txBody>
      </p:sp>
      <p:sp>
        <p:nvSpPr>
          <p:cNvPr id="5" name="rect 4"/>
          <p:cNvSpPr/>
          <p:nvPr/>
        </p:nvSpPr>
        <p:spPr>
          <a:xfrm>
            <a:off x="1016000" y="1447800"/>
            <a:ext cx="3149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CN" sz="3000" b="1">
                <a:solidFill>
                  <a:srgbClr val="1F242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样本覆盖四个年级</a:t>
            </a:r>
          </a:p>
        </p:txBody>
      </p:sp>
      <p:sp>
        <p:nvSpPr>
          <p:cNvPr id="6" name="rect 5"/>
          <p:cNvSpPr/>
          <p:nvPr/>
        </p:nvSpPr>
        <p:spPr>
          <a:xfrm>
            <a:off x="1016000" y="2070100"/>
            <a:ext cx="2057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400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回收样本的年级分布如下</a:t>
            </a:r>
          </a:p>
        </p:txBody>
      </p:sp>
      <p:sp>
        <p:nvSpPr>
          <p:cNvPr id="7" name="rect 6"/>
          <p:cNvSpPr/>
          <p:nvPr/>
        </p:nvSpPr>
        <p:spPr>
          <a:xfrm>
            <a:off x="1016000" y="2806700"/>
            <a:ext cx="457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400">
                <a:solidFill>
                  <a:srgbClr val="1F242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大一</a:t>
            </a:r>
          </a:p>
        </p:txBody>
      </p:sp>
      <p:sp>
        <p:nvSpPr>
          <p:cNvPr id="8" name="roundRect 1"/>
          <p:cNvSpPr/>
          <p:nvPr/>
        </p:nvSpPr>
        <p:spPr>
          <a:xfrm>
            <a:off x="2159000" y="2794000"/>
            <a:ext cx="7112000" cy="279400"/>
          </a:xfrm>
          <a:prstGeom prst="roundRect">
            <a:avLst>
              <a:gd fmla="val 50000" name="adj"/>
            </a:avLst>
          </a:prstGeom>
          <a:solidFill>
            <a:srgbClr val="EEF2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Rect 2"/>
          <p:cNvSpPr/>
          <p:nvPr/>
        </p:nvSpPr>
        <p:spPr>
          <a:xfrm>
            <a:off x="2159000" y="2794000"/>
            <a:ext cx="2987040" cy="279400"/>
          </a:xfrm>
          <a:prstGeom prst="roundRect">
            <a:avLst>
              <a:gd fmla="val 50000" name="adj"/>
            </a:avLst>
          </a:prstGeom>
          <a:solidFill>
            <a:srgbClr val="2F6F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 7"/>
          <p:cNvSpPr/>
          <p:nvPr/>
        </p:nvSpPr>
        <p:spPr>
          <a:xfrm>
            <a:off x="9525000" y="2806700"/>
            <a:ext cx="520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500" b="1">
                <a:solidFill>
                  <a:srgbClr val="1F242B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42%</a:t>
            </a:r>
          </a:p>
        </p:txBody>
      </p:sp>
      <p:sp>
        <p:nvSpPr>
          <p:cNvPr id="11" name="rect 8"/>
          <p:cNvSpPr/>
          <p:nvPr/>
        </p:nvSpPr>
        <p:spPr>
          <a:xfrm>
            <a:off x="1016000" y="3594100"/>
            <a:ext cx="457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400">
                <a:solidFill>
                  <a:srgbClr val="1F242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大二</a:t>
            </a:r>
          </a:p>
        </p:txBody>
      </p:sp>
      <p:sp>
        <p:nvSpPr>
          <p:cNvPr id="12" name="roundRect 3"/>
          <p:cNvSpPr/>
          <p:nvPr/>
        </p:nvSpPr>
        <p:spPr>
          <a:xfrm>
            <a:off x="2159000" y="3581400"/>
            <a:ext cx="7112000" cy="279400"/>
          </a:xfrm>
          <a:prstGeom prst="roundRect">
            <a:avLst>
              <a:gd fmla="val 50000" name="adj"/>
            </a:avLst>
          </a:prstGeom>
          <a:solidFill>
            <a:srgbClr val="EEF2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Rect 4"/>
          <p:cNvSpPr/>
          <p:nvPr/>
        </p:nvSpPr>
        <p:spPr>
          <a:xfrm>
            <a:off x="2159000" y="3581400"/>
            <a:ext cx="2204720" cy="279400"/>
          </a:xfrm>
          <a:prstGeom prst="roundRect">
            <a:avLst>
              <a:gd fmla="val 50000" name="adj"/>
            </a:avLst>
          </a:prstGeom>
          <a:solidFill>
            <a:srgbClr val="2F6FED">
              <a:alpha val="8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 9"/>
          <p:cNvSpPr/>
          <p:nvPr/>
        </p:nvSpPr>
        <p:spPr>
          <a:xfrm>
            <a:off x="9525000" y="3594100"/>
            <a:ext cx="520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500" b="1">
                <a:solidFill>
                  <a:srgbClr val="1F242B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31%</a:t>
            </a:r>
          </a:p>
        </p:txBody>
      </p:sp>
      <p:sp>
        <p:nvSpPr>
          <p:cNvPr id="15" name="rect 10"/>
          <p:cNvSpPr/>
          <p:nvPr/>
        </p:nvSpPr>
        <p:spPr>
          <a:xfrm>
            <a:off x="1016000" y="4381500"/>
            <a:ext cx="457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400">
                <a:solidFill>
                  <a:srgbClr val="1F242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大三</a:t>
            </a:r>
          </a:p>
        </p:txBody>
      </p:sp>
      <p:sp>
        <p:nvSpPr>
          <p:cNvPr id="16" name="roundRect 5"/>
          <p:cNvSpPr/>
          <p:nvPr/>
        </p:nvSpPr>
        <p:spPr>
          <a:xfrm>
            <a:off x="2159000" y="4368800"/>
            <a:ext cx="7112000" cy="279400"/>
          </a:xfrm>
          <a:prstGeom prst="roundRect">
            <a:avLst>
              <a:gd fmla="val 50000" name="adj"/>
            </a:avLst>
          </a:prstGeom>
          <a:solidFill>
            <a:srgbClr val="EEF2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Rect 6"/>
          <p:cNvSpPr/>
          <p:nvPr/>
        </p:nvSpPr>
        <p:spPr>
          <a:xfrm>
            <a:off x="2159000" y="4368800"/>
            <a:ext cx="1422400" cy="279400"/>
          </a:xfrm>
          <a:prstGeom prst="roundRect">
            <a:avLst>
              <a:gd fmla="val 50000" name="adj"/>
            </a:avLst>
          </a:prstGeom>
          <a:solidFill>
            <a:srgbClr val="2F6FED">
              <a:alpha val="6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 11"/>
          <p:cNvSpPr/>
          <p:nvPr/>
        </p:nvSpPr>
        <p:spPr>
          <a:xfrm>
            <a:off x="9525000" y="4381500"/>
            <a:ext cx="520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500" b="1">
                <a:solidFill>
                  <a:srgbClr val="1F242B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20%</a:t>
            </a:r>
          </a:p>
        </p:txBody>
      </p:sp>
      <p:sp>
        <p:nvSpPr>
          <p:cNvPr id="19" name="rect 12"/>
          <p:cNvSpPr/>
          <p:nvPr/>
        </p:nvSpPr>
        <p:spPr>
          <a:xfrm>
            <a:off x="1016000" y="5168900"/>
            <a:ext cx="457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400">
                <a:solidFill>
                  <a:srgbClr val="1F242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大四</a:t>
            </a:r>
          </a:p>
        </p:txBody>
      </p:sp>
      <p:sp>
        <p:nvSpPr>
          <p:cNvPr id="20" name="roundRect 7"/>
          <p:cNvSpPr/>
          <p:nvPr/>
        </p:nvSpPr>
        <p:spPr>
          <a:xfrm>
            <a:off x="2159000" y="5156200"/>
            <a:ext cx="7112000" cy="279400"/>
          </a:xfrm>
          <a:prstGeom prst="roundRect">
            <a:avLst>
              <a:gd fmla="val 50000" name="adj"/>
            </a:avLst>
          </a:prstGeom>
          <a:solidFill>
            <a:srgbClr val="EEF2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Rect 8"/>
          <p:cNvSpPr/>
          <p:nvPr/>
        </p:nvSpPr>
        <p:spPr>
          <a:xfrm>
            <a:off x="2159000" y="5156200"/>
            <a:ext cx="497840" cy="279400"/>
          </a:xfrm>
          <a:prstGeom prst="roundRect">
            <a:avLst>
              <a:gd fmla="val 50000" name="adj"/>
            </a:avLst>
          </a:prstGeom>
          <a:solidFill>
            <a:srgbClr val="2F6FED">
              <a:alpha val="4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 13"/>
          <p:cNvSpPr/>
          <p:nvPr/>
        </p:nvSpPr>
        <p:spPr>
          <a:xfrm>
            <a:off x="9525000" y="5168900"/>
            <a:ext cx="393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500" b="1">
                <a:solidFill>
                  <a:srgbClr val="1F242B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7%</a:t>
            </a:r>
          </a:p>
        </p:txBody>
      </p:sp>
      <p:sp>
        <p:nvSpPr>
          <p:cNvPr id="23" name="rect 14"/>
          <p:cNvSpPr/>
          <p:nvPr/>
        </p:nvSpPr>
        <p:spPr>
          <a:xfrm>
            <a:off x="1016000" y="6108700"/>
            <a:ext cx="36068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CN" sz="1200">
                <a:solidFill>
                  <a:srgbClr val="9AA1A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注：另有少量样本未填写年级，占比已作舍入处理。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1016000" y="990600"/>
            <a:ext cx="292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en-US" sz="1300">
                <a:solidFill>
                  <a:srgbClr val="2F6FED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04</a:t>
            </a:r>
          </a:p>
        </p:txBody>
      </p:sp>
      <p:sp>
        <p:nvSpPr>
          <p:cNvPr id="4" name="rect 3"/>
          <p:cNvSpPr/>
          <p:nvPr/>
        </p:nvSpPr>
        <p:spPr>
          <a:xfrm>
            <a:off x="1524000" y="990600"/>
            <a:ext cx="762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zh-CN" sz="1300">
                <a:solidFill>
                  <a:srgbClr val="9AA1A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核心发现</a:t>
            </a:r>
          </a:p>
        </p:txBody>
      </p:sp>
      <p:sp>
        <p:nvSpPr>
          <p:cNvPr id="5" name="rect 4"/>
          <p:cNvSpPr/>
          <p:nvPr/>
        </p:nvSpPr>
        <p:spPr>
          <a:xfrm>
            <a:off x="1016000" y="1397000"/>
            <a:ext cx="5816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CN" sz="3000" b="1">
                <a:solidFill>
                  <a:srgbClr val="1F242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近八成学生买咖啡是为了社交打卡</a:t>
            </a:r>
          </a:p>
        </p:txBody>
      </p:sp>
      <p:sp>
        <p:nvSpPr>
          <p:cNvPr id="6" name="roundRect 1"/>
          <p:cNvSpPr/>
          <p:nvPr/>
        </p:nvSpPr>
        <p:spPr>
          <a:xfrm>
            <a:off x="1016000" y="2235200"/>
            <a:ext cx="4826000" cy="2489200"/>
          </a:xfrm>
          <a:prstGeom prst="roundRect">
            <a:avLst>
              <a:gd fmla="val 6122" name="adj"/>
            </a:avLst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5"/>
          <p:cNvSpPr/>
          <p:nvPr/>
        </p:nvSpPr>
        <p:spPr>
          <a:xfrm>
            <a:off x="1371600" y="2476500"/>
            <a:ext cx="1854200" cy="1308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1000"/>
              </a:lnSpc>
              <a:buNone/>
            </a:pPr>
            <a:r>
              <a:rPr lang="en-US" sz="8600" b="1">
                <a:solidFill>
                  <a:srgbClr val="2F6FED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78</a:t>
            </a:r>
            <a:r>
              <a:rPr lang="en-US" sz="3400" b="1">
                <a:solidFill>
                  <a:srgbClr val="2F6FED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%</a:t>
            </a:r>
          </a:p>
        </p:txBody>
      </p:sp>
      <p:sp>
        <p:nvSpPr>
          <p:cNvPr id="8" name="rect 6"/>
          <p:cNvSpPr/>
          <p:nvPr/>
        </p:nvSpPr>
        <p:spPr>
          <a:xfrm>
            <a:off x="1371600" y="3949700"/>
            <a:ext cx="2590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400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选择“拍照打卡”作为购买咖啡</a:t>
            </a:r>
          </a:p>
        </p:txBody>
      </p:sp>
      <p:sp>
        <p:nvSpPr>
          <p:cNvPr id="9" name="rect 7"/>
          <p:cNvSpPr/>
          <p:nvPr/>
        </p:nvSpPr>
        <p:spPr>
          <a:xfrm>
            <a:off x="1371600" y="4229100"/>
            <a:ext cx="990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400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的首要理由</a:t>
            </a:r>
          </a:p>
        </p:txBody>
      </p:sp>
      <p:sp>
        <p:nvSpPr>
          <p:cNvPr id="10" name="rect 8"/>
          <p:cNvSpPr/>
          <p:nvPr/>
        </p:nvSpPr>
        <p:spPr>
          <a:xfrm>
            <a:off x="6350000" y="2362200"/>
            <a:ext cx="1282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zh-CN" sz="1300">
                <a:solidFill>
                  <a:srgbClr val="9AA1A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第 7 题　单选题</a:t>
            </a:r>
          </a:p>
        </p:txBody>
      </p:sp>
      <p:sp>
        <p:nvSpPr>
          <p:cNvPr id="11" name="rect 9"/>
          <p:cNvSpPr/>
          <p:nvPr/>
        </p:nvSpPr>
        <p:spPr>
          <a:xfrm>
            <a:off x="6350000" y="2679700"/>
            <a:ext cx="2768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400">
                <a:solidFill>
                  <a:srgbClr val="1F242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你买咖啡，主要是为了拍照打卡，</a:t>
            </a:r>
          </a:p>
        </p:txBody>
      </p:sp>
      <p:sp>
        <p:nvSpPr>
          <p:cNvPr id="12" name="rect 10"/>
          <p:cNvSpPr/>
          <p:nvPr/>
        </p:nvSpPr>
        <p:spPr>
          <a:xfrm>
            <a:off x="6350000" y="2959100"/>
            <a:ext cx="1346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400">
                <a:solidFill>
                  <a:srgbClr val="1F242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还是为了提神？</a:t>
            </a:r>
          </a:p>
        </p:txBody>
      </p:sp>
      <p:sp>
        <p:nvSpPr>
          <p:cNvPr id="13" name="roundRect 2"/>
          <p:cNvSpPr/>
          <p:nvPr/>
        </p:nvSpPr>
        <p:spPr>
          <a:xfrm>
            <a:off x="6350000" y="3632200"/>
            <a:ext cx="3764280" cy="330200"/>
          </a:xfrm>
          <a:prstGeom prst="roundRect">
            <a:avLst>
              <a:gd fmla="val 23077" name="adj"/>
            </a:avLst>
          </a:prstGeom>
          <a:solidFill>
            <a:srgbClr val="2F6F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 11"/>
          <p:cNvSpPr/>
          <p:nvPr/>
        </p:nvSpPr>
        <p:spPr>
          <a:xfrm>
            <a:off x="6350000" y="4013200"/>
            <a:ext cx="762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zh-CN" sz="1300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拍照打卡</a:t>
            </a:r>
          </a:p>
        </p:txBody>
      </p:sp>
      <p:sp>
        <p:nvSpPr>
          <p:cNvPr id="15" name="rect 12"/>
          <p:cNvSpPr/>
          <p:nvPr/>
        </p:nvSpPr>
        <p:spPr>
          <a:xfrm>
            <a:off x="9555480" y="4013200"/>
            <a:ext cx="457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92000"/>
              </a:lnSpc>
              <a:buNone/>
            </a:pPr>
            <a:r>
              <a:rPr lang="en-US" sz="1300" b="1">
                <a:solidFill>
                  <a:srgbClr val="2F6FED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78%</a:t>
            </a:r>
          </a:p>
        </p:txBody>
      </p:sp>
      <p:sp>
        <p:nvSpPr>
          <p:cNvPr id="16" name="roundRect 3"/>
          <p:cNvSpPr/>
          <p:nvPr/>
        </p:nvSpPr>
        <p:spPr>
          <a:xfrm>
            <a:off x="6350000" y="4419600"/>
            <a:ext cx="1061720" cy="330200"/>
          </a:xfrm>
          <a:prstGeom prst="roundRect">
            <a:avLst>
              <a:gd fmla="val 23077" name="adj"/>
            </a:avLst>
          </a:prstGeom>
          <a:solidFill>
            <a:srgbClr val="A9BF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3"/>
          <p:cNvSpPr/>
          <p:nvPr/>
        </p:nvSpPr>
        <p:spPr>
          <a:xfrm>
            <a:off x="6350000" y="48006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zh-CN" sz="1300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提神</a:t>
            </a:r>
          </a:p>
        </p:txBody>
      </p:sp>
      <p:sp>
        <p:nvSpPr>
          <p:cNvPr id="18" name="rect 14"/>
          <p:cNvSpPr/>
          <p:nvPr/>
        </p:nvSpPr>
        <p:spPr>
          <a:xfrm>
            <a:off x="6852920" y="4800600"/>
            <a:ext cx="457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92000"/>
              </a:lnSpc>
              <a:buNone/>
            </a:pPr>
            <a:r>
              <a:rPr lang="en-US" sz="1300" b="1">
                <a:solidFill>
                  <a:srgbClr val="7F97C8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22%</a:t>
            </a:r>
          </a:p>
        </p:txBody>
      </p:sp>
      <p:sp>
        <p:nvSpPr>
          <p:cNvPr id="19" name="rect 15"/>
          <p:cNvSpPr/>
          <p:nvPr/>
        </p:nvSpPr>
        <p:spPr>
          <a:xfrm>
            <a:off x="1016000" y="5130800"/>
            <a:ext cx="10160000" cy="12700"/>
          </a:xfrm>
          <a:prstGeom prst="rect">
            <a:avLst/>
          </a:prstGeom>
          <a:solidFill>
            <a:srgbClr val="E6EBF2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0" name="rect 16"/>
          <p:cNvSpPr/>
          <p:nvPr/>
        </p:nvSpPr>
        <p:spPr>
          <a:xfrm>
            <a:off x="1016000" y="5359400"/>
            <a:ext cx="4559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zh-CN" sz="1300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这说明：咖啡在校园里首先是一种社交道具，其次才是饮品。</a:t>
            </a:r>
          </a:p>
        </p:txBody>
      </p:sp>
      <p:sp>
        <p:nvSpPr>
          <p:cNvPr id="21" name="rect 17"/>
          <p:cNvSpPr/>
          <p:nvPr/>
        </p:nvSpPr>
        <p:spPr>
          <a:xfrm>
            <a:off x="1016000" y="5753100"/>
            <a:ext cx="4826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200">
                <a:solidFill>
                  <a:srgbClr val="9AA1AB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n=12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1016000" y="1041400"/>
            <a:ext cx="292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en-US" sz="1300">
                <a:solidFill>
                  <a:srgbClr val="2F6FED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05</a:t>
            </a:r>
          </a:p>
        </p:txBody>
      </p:sp>
      <p:sp>
        <p:nvSpPr>
          <p:cNvPr id="4" name="rect 3"/>
          <p:cNvSpPr/>
          <p:nvPr/>
        </p:nvSpPr>
        <p:spPr>
          <a:xfrm>
            <a:off x="1524000" y="1041400"/>
            <a:ext cx="927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zh-CN" sz="1300">
                <a:solidFill>
                  <a:srgbClr val="9AA1A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结论与建议</a:t>
            </a:r>
          </a:p>
        </p:txBody>
      </p:sp>
      <p:sp>
        <p:nvSpPr>
          <p:cNvPr id="5" name="rect 4"/>
          <p:cNvSpPr/>
          <p:nvPr/>
        </p:nvSpPr>
        <p:spPr>
          <a:xfrm>
            <a:off x="1016000" y="1447800"/>
            <a:ext cx="3530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zh-CN" sz="3000" b="1">
                <a:solidFill>
                  <a:srgbClr val="1F242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三条结论，一条建议</a:t>
            </a:r>
          </a:p>
        </p:txBody>
      </p:sp>
      <p:sp>
        <p:nvSpPr>
          <p:cNvPr id="6" name="ellipse 1"/>
          <p:cNvSpPr/>
          <p:nvPr/>
        </p:nvSpPr>
        <p:spPr>
          <a:xfrm>
            <a:off x="1028700" y="2578100"/>
            <a:ext cx="279400" cy="279400"/>
          </a:xfrm>
          <a:prstGeom prst="ellipse">
            <a:avLst/>
          </a:prstGeom>
          <a:solidFill>
            <a:srgbClr val="E8EFFD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7" name="rect 5"/>
          <p:cNvSpPr/>
          <p:nvPr/>
        </p:nvSpPr>
        <p:spPr>
          <a:xfrm>
            <a:off x="1073150" y="2603500"/>
            <a:ext cx="1905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1200" b="1">
                <a:solidFill>
                  <a:srgbClr val="2F6FED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1</a:t>
            </a:r>
          </a:p>
        </p:txBody>
      </p:sp>
      <p:sp>
        <p:nvSpPr>
          <p:cNvPr id="8" name="rect 6"/>
          <p:cNvSpPr/>
          <p:nvPr/>
        </p:nvSpPr>
        <p:spPr>
          <a:xfrm>
            <a:off x="1524000" y="2565400"/>
            <a:ext cx="33528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1000"/>
              </a:lnSpc>
              <a:buNone/>
            </a:pPr>
            <a:r>
              <a:rPr lang="zh-CN" sz="1600" b="1">
                <a:solidFill>
                  <a:srgbClr val="1F242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咖啡的功能属性正在被社交属性覆盖</a:t>
            </a:r>
          </a:p>
        </p:txBody>
      </p:sp>
      <p:sp>
        <p:nvSpPr>
          <p:cNvPr id="9" name="rect 7"/>
          <p:cNvSpPr/>
          <p:nvPr/>
        </p:nvSpPr>
        <p:spPr>
          <a:xfrm>
            <a:off x="1524000" y="2946400"/>
            <a:ext cx="3467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zh-CN" sz="1300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78% 的受访者把“拍照打卡”列为首要理由。</a:t>
            </a:r>
          </a:p>
        </p:txBody>
      </p:sp>
      <p:sp>
        <p:nvSpPr>
          <p:cNvPr id="10" name="ellipse 2"/>
          <p:cNvSpPr/>
          <p:nvPr/>
        </p:nvSpPr>
        <p:spPr>
          <a:xfrm>
            <a:off x="1028700" y="3644900"/>
            <a:ext cx="279400" cy="279400"/>
          </a:xfrm>
          <a:prstGeom prst="ellipse">
            <a:avLst/>
          </a:prstGeom>
          <a:solidFill>
            <a:srgbClr val="E8EFFD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1" name="rect 8"/>
          <p:cNvSpPr/>
          <p:nvPr/>
        </p:nvSpPr>
        <p:spPr>
          <a:xfrm>
            <a:off x="1073150" y="3670300"/>
            <a:ext cx="1905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1200" b="1">
                <a:solidFill>
                  <a:srgbClr val="2F6FED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2</a:t>
            </a:r>
          </a:p>
        </p:txBody>
      </p:sp>
      <p:sp>
        <p:nvSpPr>
          <p:cNvPr id="12" name="rect 9"/>
          <p:cNvSpPr/>
          <p:nvPr/>
        </p:nvSpPr>
        <p:spPr>
          <a:xfrm>
            <a:off x="1524000" y="3632200"/>
            <a:ext cx="23368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1000"/>
              </a:lnSpc>
              <a:buNone/>
            </a:pPr>
            <a:r>
              <a:rPr lang="zh-CN" sz="1600" b="1">
                <a:solidFill>
                  <a:srgbClr val="1F242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消费决策受同伴影响明显</a:t>
            </a:r>
          </a:p>
        </p:txBody>
      </p:sp>
      <p:sp>
        <p:nvSpPr>
          <p:cNvPr id="13" name="rect 10"/>
          <p:cNvSpPr/>
          <p:nvPr/>
        </p:nvSpPr>
        <p:spPr>
          <a:xfrm>
            <a:off x="1524000" y="4013200"/>
            <a:ext cx="32385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zh-CN" sz="1300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超过一半的受访者表示“室友去我就去”。</a:t>
            </a:r>
          </a:p>
        </p:txBody>
      </p:sp>
      <p:sp>
        <p:nvSpPr>
          <p:cNvPr id="14" name="ellipse 3"/>
          <p:cNvSpPr/>
          <p:nvPr/>
        </p:nvSpPr>
        <p:spPr>
          <a:xfrm>
            <a:off x="1028700" y="4711700"/>
            <a:ext cx="279400" cy="279400"/>
          </a:xfrm>
          <a:prstGeom prst="ellipse">
            <a:avLst/>
          </a:prstGeom>
          <a:solidFill>
            <a:srgbClr val="E8EFFD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5" name="rect 11"/>
          <p:cNvSpPr/>
          <p:nvPr/>
        </p:nvSpPr>
        <p:spPr>
          <a:xfrm>
            <a:off x="1073150" y="4737100"/>
            <a:ext cx="1905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1200" b="1">
                <a:solidFill>
                  <a:srgbClr val="2F6FED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3</a:t>
            </a:r>
          </a:p>
        </p:txBody>
      </p:sp>
      <p:sp>
        <p:nvSpPr>
          <p:cNvPr id="16" name="rect 12"/>
          <p:cNvSpPr/>
          <p:nvPr/>
        </p:nvSpPr>
        <p:spPr>
          <a:xfrm>
            <a:off x="1524000" y="4699000"/>
            <a:ext cx="19304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1000"/>
              </a:lnSpc>
              <a:buNone/>
            </a:pPr>
            <a:r>
              <a:rPr lang="zh-CN" sz="1600" b="1">
                <a:solidFill>
                  <a:srgbClr val="1F242B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价格敏感度低于预期</a:t>
            </a:r>
          </a:p>
        </p:txBody>
      </p:sp>
      <p:sp>
        <p:nvSpPr>
          <p:cNvPr id="17" name="rect 13"/>
          <p:cNvSpPr/>
          <p:nvPr/>
        </p:nvSpPr>
        <p:spPr>
          <a:xfrm>
            <a:off x="1524000" y="5080000"/>
            <a:ext cx="3187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zh-CN" sz="1300">
                <a:solidFill>
                  <a:srgbClr val="6B748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仅有 12% 的受访者把价格列为主要考虑。</a:t>
            </a:r>
          </a:p>
        </p:txBody>
      </p:sp>
      <p:sp>
        <p:nvSpPr>
          <p:cNvPr id="18" name="roundRect 1"/>
          <p:cNvSpPr/>
          <p:nvPr/>
        </p:nvSpPr>
        <p:spPr>
          <a:xfrm>
            <a:off x="1016000" y="5562600"/>
            <a:ext cx="10160000" cy="914400"/>
          </a:xfrm>
          <a:prstGeom prst="roundRect">
            <a:avLst>
              <a:gd fmla="val 16667" name="adj"/>
            </a:avLst>
          </a:prstGeom>
          <a:solidFill>
            <a:srgbClr val="E8EF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 14"/>
          <p:cNvSpPr/>
          <p:nvPr/>
        </p:nvSpPr>
        <p:spPr>
          <a:xfrm>
            <a:off x="1320800" y="5753100"/>
            <a:ext cx="457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400" b="1">
                <a:solidFill>
                  <a:srgbClr val="1B4BB0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建议</a:t>
            </a:r>
          </a:p>
        </p:txBody>
      </p:sp>
      <p:sp>
        <p:nvSpPr>
          <p:cNvPr id="20" name="rect 15"/>
          <p:cNvSpPr/>
          <p:nvPr/>
        </p:nvSpPr>
        <p:spPr>
          <a:xfrm>
            <a:off x="1320800" y="6096000"/>
            <a:ext cx="5054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2000"/>
              </a:lnSpc>
              <a:buNone/>
            </a:pPr>
            <a:r>
              <a:rPr lang="zh-CN" sz="1300">
                <a:solidFill>
                  <a:srgbClr val="2A4A7A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校内咖啡门店应强化“可拍照”的空间设计，而不是单纯压低价格。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ellipse 1"/>
          <p:cNvSpPr/>
          <p:nvPr/>
        </p:nvSpPr>
        <p:spPr>
          <a:xfrm>
            <a:off x="-254000" y="3556000"/>
            <a:ext cx="4064000" cy="40640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2"/>
          <p:cNvSpPr/>
          <p:nvPr/>
        </p:nvSpPr>
        <p:spPr>
          <a:xfrm>
            <a:off x="4876800" y="2806700"/>
            <a:ext cx="2438400" cy="698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zh-CN" sz="4600" b="1">
                <a:solidFill>
                  <a:srgbClr val="FFFFFF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谢谢观看</a:t>
            </a:r>
          </a:p>
        </p:txBody>
      </p:sp>
      <p:sp>
        <p:nvSpPr>
          <p:cNvPr id="5" name="rect 3"/>
          <p:cNvSpPr/>
          <p:nvPr/>
        </p:nvSpPr>
        <p:spPr>
          <a:xfrm>
            <a:off x="5378450" y="3759200"/>
            <a:ext cx="1435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zh-CN" sz="15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欢迎提问与指正</a:t>
            </a:r>
          </a:p>
        </p:txBody>
      </p:sp>
      <p:sp>
        <p:nvSpPr>
          <p:cNvPr id="6" name="rect 4"/>
          <p:cNvSpPr/>
          <p:nvPr/>
        </p:nvSpPr>
        <p:spPr>
          <a:xfrm>
            <a:off x="4641850" y="5562600"/>
            <a:ext cx="2908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2000"/>
              </a:lnSpc>
              <a:buNone/>
            </a:pPr>
            <a:r>
              <a:rPr lang="zh-CN" sz="130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江晓　温言　罗青　方悦　·　2026.10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12700">
          <a:solidFill>
            <a:srgbClr val="4472C4">
              <a:alpha val="100000"/>
            </a:srgbClr>
          </a:solidFill>
        </a:ln>
        <a:ln w="19050">
          <a:solidFill>
            <a:srgbClr val="44546A">
              <a:alpha val="100000"/>
            </a:srgbClr>
          </a:solidFill>
        </a:ln>
        <a:ln w="28575">
          <a:solidFill>
            <a:srgbClr val="000000">
              <a:alpha val="100000"/>
            </a:srgbClr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7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大学生咖啡消费偏好调查</vt:lpstr>
    </vt:vector>
  </TitlesOfParts>
  <Company>Univer.ai</Company>
  <LinksUpToDate>false</LinksUpToDate>
  <SharedDoc>false</SharedDoc>
  <HyperlinksChanged>false</HyperlinksChanged>
  <AppVersion>16.0300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大学生咖啡消费偏好调查</dc:title>
  <dc:creator>Univer.ai</dc:creator>
  <cp:lastModifiedBy>Univer.ai</cp:lastModifiedBy>
  <dcterms:created xsi:type="dcterms:W3CDTF">2026-01-01T00:00:00Z</dcterms:created>
  <dcterms:modified xsi:type="dcterms:W3CDTF">2026-01-01T00:00:00Z</dcterms:modified>
</cp:coreProperties>
</file>