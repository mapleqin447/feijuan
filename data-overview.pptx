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6F4E3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406400" y="152400"/>
            <a:ext cx="43815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3000"/>
              </a:lnSpc>
              <a:buNone/>
            </a:pPr>
            <a:r>
              <a:rPr lang="zh-CN" sz="2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大学生咖啡消费偏好调查 · 数据总览</a:t>
            </a:r>
          </a:p>
        </p:txBody>
      </p:sp>
      <p:sp>
        <p:nvSpPr>
          <p:cNvPr id="5" name="rect 4"/>
          <p:cNvSpPr/>
          <p:nvPr/>
        </p:nvSpPr>
        <p:spPr>
          <a:xfrm>
            <a:off x="406400" y="520700"/>
            <a:ext cx="5194300" cy="152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5000"/>
              </a:lnSpc>
              <a:buNone/>
            </a:pPr>
            <a:r>
              <a:rPr lang="zh-CN" sz="10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发放 200 份　回收 86 份　有效 12 份　采集时间 2026.10.10 – 10.14　对象：本校本科生</a:t>
            </a:r>
          </a:p>
        </p:txBody>
      </p:sp>
      <p:sp>
        <p:nvSpPr>
          <p:cNvPr id="6" name="rect 5"/>
          <p:cNvSpPr/>
          <p:nvPr/>
        </p:nvSpPr>
        <p:spPr>
          <a:xfrm>
            <a:off x="10541000" y="266700"/>
            <a:ext cx="1244600" cy="152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75000"/>
              </a:lnSpc>
              <a:buNone/>
            </a:pPr>
            <a:r>
              <a:rPr lang="zh-CN" sz="10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课程：社会调查方法</a:t>
            </a:r>
          </a:p>
        </p:txBody>
      </p:sp>
      <p:sp>
        <p:nvSpPr>
          <p:cNvPr id="7" name="rect 6"/>
          <p:cNvSpPr/>
          <p:nvPr/>
        </p:nvSpPr>
        <p:spPr>
          <a:xfrm>
            <a:off x="10845800" y="520700"/>
            <a:ext cx="939800" cy="152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75000"/>
              </a:lnSpc>
              <a:buNone/>
            </a:pPr>
            <a:r>
              <a:rPr lang="zh-CN" sz="10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2026.10 · 定稿</a:t>
            </a:r>
          </a:p>
        </p:txBody>
      </p:sp>
      <p:cxnSp>
        <p:nvCxnSpPr>
          <p:cNvPr id="8" name="line 1"/>
          <p:cNvCxnSpPr/>
          <p:nvPr/>
        </p:nvCxnSpPr>
        <p:spPr>
          <a:xfrm>
            <a:off x="406400" y="831850"/>
            <a:ext cx="11379200" cy="12700"/>
          </a:xfrm>
          <a:prstGeom prst="line">
            <a:avLst/>
          </a:prstGeom>
          <a:noFill/>
          <a:ln w="12700">
            <a:solidFill>
              <a:srgbClr val="EADFD0"/>
            </a:solidFill>
          </a:ln>
        </p:spPr>
      </p:cxnSp>
      <p:sp>
        <p:nvSpPr>
          <p:cNvPr id="9" name="roundRect 1"/>
          <p:cNvSpPr/>
          <p:nvPr/>
        </p:nvSpPr>
        <p:spPr>
          <a:xfrm>
            <a:off x="406400" y="965200"/>
            <a:ext cx="2174240" cy="381000"/>
          </a:xfrm>
          <a:prstGeom prst="roundRect">
            <a:avLst>
              <a:gd fmla="val 2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7"/>
          <p:cNvSpPr/>
          <p:nvPr/>
        </p:nvSpPr>
        <p:spPr>
          <a:xfrm>
            <a:off x="533400" y="1016000"/>
            <a:ext cx="457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200</a:t>
            </a:r>
          </a:p>
        </p:txBody>
      </p:sp>
      <p:sp>
        <p:nvSpPr>
          <p:cNvPr id="11" name="rect 8"/>
          <p:cNvSpPr/>
          <p:nvPr/>
        </p:nvSpPr>
        <p:spPr>
          <a:xfrm>
            <a:off x="1092200" y="1054100"/>
            <a:ext cx="533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发放份数</a:t>
            </a:r>
          </a:p>
        </p:txBody>
      </p:sp>
      <p:sp>
        <p:nvSpPr>
          <p:cNvPr id="12" name="roundRect 2"/>
          <p:cNvSpPr/>
          <p:nvPr/>
        </p:nvSpPr>
        <p:spPr>
          <a:xfrm>
            <a:off x="2707640" y="965200"/>
            <a:ext cx="2174240" cy="381000"/>
          </a:xfrm>
          <a:prstGeom prst="roundRect">
            <a:avLst>
              <a:gd fmla="val 2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9"/>
          <p:cNvSpPr/>
          <p:nvPr/>
        </p:nvSpPr>
        <p:spPr>
          <a:xfrm>
            <a:off x="2834640" y="1016000"/>
            <a:ext cx="34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86</a:t>
            </a:r>
          </a:p>
        </p:txBody>
      </p:sp>
      <p:sp>
        <p:nvSpPr>
          <p:cNvPr id="14" name="rect 10"/>
          <p:cNvSpPr/>
          <p:nvPr/>
        </p:nvSpPr>
        <p:spPr>
          <a:xfrm>
            <a:off x="3393440" y="1054100"/>
            <a:ext cx="533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回收份数</a:t>
            </a:r>
          </a:p>
        </p:txBody>
      </p:sp>
      <p:sp>
        <p:nvSpPr>
          <p:cNvPr id="15" name="roundRect 3"/>
          <p:cNvSpPr/>
          <p:nvPr/>
        </p:nvSpPr>
        <p:spPr>
          <a:xfrm>
            <a:off x="5008880" y="965200"/>
            <a:ext cx="2174240" cy="381000"/>
          </a:xfrm>
          <a:prstGeom prst="roundRect">
            <a:avLst>
              <a:gd fmla="val 2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1"/>
          <p:cNvSpPr/>
          <p:nvPr/>
        </p:nvSpPr>
        <p:spPr>
          <a:xfrm>
            <a:off x="5135880" y="1016000"/>
            <a:ext cx="52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43%</a:t>
            </a:r>
          </a:p>
        </p:txBody>
      </p:sp>
      <p:sp>
        <p:nvSpPr>
          <p:cNvPr id="17" name="rect 12"/>
          <p:cNvSpPr/>
          <p:nvPr/>
        </p:nvSpPr>
        <p:spPr>
          <a:xfrm>
            <a:off x="5694680" y="1054100"/>
            <a:ext cx="4318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回收率</a:t>
            </a:r>
          </a:p>
        </p:txBody>
      </p:sp>
      <p:sp>
        <p:nvSpPr>
          <p:cNvPr id="18" name="roundRect 4"/>
          <p:cNvSpPr/>
          <p:nvPr/>
        </p:nvSpPr>
        <p:spPr>
          <a:xfrm>
            <a:off x="7310120" y="965200"/>
            <a:ext cx="2174240" cy="381000"/>
          </a:xfrm>
          <a:prstGeom prst="roundRect">
            <a:avLst>
              <a:gd fmla="val 2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3"/>
          <p:cNvSpPr/>
          <p:nvPr/>
        </p:nvSpPr>
        <p:spPr>
          <a:xfrm>
            <a:off x="7437120" y="1016000"/>
            <a:ext cx="34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74</a:t>
            </a:r>
          </a:p>
        </p:txBody>
      </p:sp>
      <p:sp>
        <p:nvSpPr>
          <p:cNvPr id="20" name="rect 14"/>
          <p:cNvSpPr/>
          <p:nvPr/>
        </p:nvSpPr>
        <p:spPr>
          <a:xfrm>
            <a:off x="7995920" y="1054100"/>
            <a:ext cx="533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无效答卷</a:t>
            </a:r>
          </a:p>
        </p:txBody>
      </p:sp>
      <p:sp>
        <p:nvSpPr>
          <p:cNvPr id="21" name="roundRect 5"/>
          <p:cNvSpPr/>
          <p:nvPr/>
        </p:nvSpPr>
        <p:spPr>
          <a:xfrm>
            <a:off x="9611360" y="965200"/>
            <a:ext cx="2174240" cy="381000"/>
          </a:xfrm>
          <a:prstGeom prst="roundRect">
            <a:avLst>
              <a:gd fmla="val 2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5"/>
          <p:cNvSpPr/>
          <p:nvPr/>
        </p:nvSpPr>
        <p:spPr>
          <a:xfrm>
            <a:off x="9738360" y="1016000"/>
            <a:ext cx="342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500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12</a:t>
            </a:r>
          </a:p>
        </p:txBody>
      </p:sp>
      <p:sp>
        <p:nvSpPr>
          <p:cNvPr id="23" name="rect 16"/>
          <p:cNvSpPr/>
          <p:nvPr/>
        </p:nvSpPr>
        <p:spPr>
          <a:xfrm>
            <a:off x="10297160" y="1054100"/>
            <a:ext cx="533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有效样本</a:t>
            </a:r>
          </a:p>
        </p:txBody>
      </p:sp>
      <p:sp>
        <p:nvSpPr>
          <p:cNvPr id="24" name="roundRect 6"/>
          <p:cNvSpPr/>
          <p:nvPr/>
        </p:nvSpPr>
        <p:spPr>
          <a:xfrm>
            <a:off x="406400" y="1473200"/>
            <a:ext cx="3657600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EADF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7"/>
          <p:cNvSpPr/>
          <p:nvPr/>
        </p:nvSpPr>
        <p:spPr>
          <a:xfrm>
            <a:off x="584200" y="1612900"/>
            <a:ext cx="13589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1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购买咖啡的首要动机</a:t>
            </a:r>
          </a:p>
        </p:txBody>
      </p:sp>
      <p:sp>
        <p:nvSpPr>
          <p:cNvPr id="26" name="rect 18"/>
          <p:cNvSpPr/>
          <p:nvPr/>
        </p:nvSpPr>
        <p:spPr>
          <a:xfrm>
            <a:off x="3098800" y="1612900"/>
            <a:ext cx="7874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第 7 题 · 单选</a:t>
            </a:r>
          </a:p>
        </p:txBody>
      </p:sp>
      <p:sp>
        <p:nvSpPr>
          <p:cNvPr id="27" name="rect 19"/>
          <p:cNvSpPr/>
          <p:nvPr/>
        </p:nvSpPr>
        <p:spPr>
          <a:xfrm>
            <a:off x="715772" y="1968500"/>
            <a:ext cx="1171448" cy="1133348"/>
          </a:xfrm>
          <a:custGeom>
            <a:avLst/>
            <a:gdLst/>
            <a:ahLst/>
            <a:cxnLst/>
            <a:rect l="0" t="0" r="0" b="0"/>
            <a:pathLst>
              <a:path w="92" h="89">
                <a:moveTo>
                  <a:pt x="46" y="0"/>
                </a:moveTo>
                <a:cubicBezTo>
                  <a:pt x="64" y="0"/>
                  <a:pt x="80" y="11"/>
                  <a:pt x="86" y="28"/>
                </a:cubicBezTo>
                <a:cubicBezTo>
                  <a:pt x="92" y="46"/>
                  <a:pt x="87" y="65"/>
                  <a:pt x="73" y="76"/>
                </a:cubicBezTo>
                <a:cubicBezTo>
                  <a:pt x="59" y="88"/>
                  <a:pt x="39" y="89"/>
                  <a:pt x="24" y="80"/>
                </a:cubicBezTo>
                <a:cubicBezTo>
                  <a:pt x="8" y="71"/>
                  <a:pt x="0" y="53"/>
                  <a:pt x="3" y="35"/>
                </a:cubicBezTo>
                <a:lnTo>
                  <a:pt x="17" y="38"/>
                </a:lnTo>
                <a:cubicBezTo>
                  <a:pt x="15" y="50"/>
                  <a:pt x="20" y="62"/>
                  <a:pt x="31" y="68"/>
                </a:cubicBezTo>
                <a:cubicBezTo>
                  <a:pt x="41" y="74"/>
                  <a:pt x="55" y="73"/>
                  <a:pt x="64" y="65"/>
                </a:cubicBezTo>
                <a:cubicBezTo>
                  <a:pt x="74" y="58"/>
                  <a:pt x="77" y="45"/>
                  <a:pt x="73" y="33"/>
                </a:cubicBezTo>
                <a:cubicBezTo>
                  <a:pt x="69" y="22"/>
                  <a:pt x="58" y="14"/>
                  <a:pt x="46" y="14"/>
                </a:cubicBezTo>
                <a:close/>
              </a:path>
            </a:pathLst>
          </a:custGeom>
          <a:solidFill>
            <a:srgbClr val="6F4E3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20"/>
          <p:cNvSpPr/>
          <p:nvPr/>
        </p:nvSpPr>
        <p:spPr>
          <a:xfrm>
            <a:off x="758952" y="1968500"/>
            <a:ext cx="536448" cy="477139"/>
          </a:xfrm>
          <a:custGeom>
            <a:avLst/>
            <a:gdLst/>
            <a:ahLst/>
            <a:cxnLst/>
            <a:rect l="0" t="0" r="0" b="0"/>
            <a:pathLst>
              <a:path w="42" h="38">
                <a:moveTo>
                  <a:pt x="0" y="35"/>
                </a:moveTo>
                <a:cubicBezTo>
                  <a:pt x="4" y="15"/>
                  <a:pt x="22" y="0"/>
                  <a:pt x="42" y="0"/>
                </a:cubicBezTo>
                <a:lnTo>
                  <a:pt x="42" y="14"/>
                </a:lnTo>
                <a:cubicBezTo>
                  <a:pt x="28" y="14"/>
                  <a:pt x="16" y="24"/>
                  <a:pt x="14" y="38"/>
                </a:cubicBezTo>
                <a:close/>
              </a:path>
            </a:pathLst>
          </a:custGeom>
          <a:solidFill>
            <a:srgbClr val="D9BF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9" name="rect 21"/>
          <p:cNvSpPr/>
          <p:nvPr/>
        </p:nvSpPr>
        <p:spPr>
          <a:xfrm>
            <a:off x="1035050" y="2387600"/>
            <a:ext cx="520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500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78%</a:t>
            </a:r>
          </a:p>
        </p:txBody>
      </p:sp>
      <p:sp>
        <p:nvSpPr>
          <p:cNvPr id="30" name="ellipse 1"/>
          <p:cNvSpPr/>
          <p:nvPr/>
        </p:nvSpPr>
        <p:spPr>
          <a:xfrm>
            <a:off x="2044700" y="2209800"/>
            <a:ext cx="101600" cy="101600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1" name="rect 22"/>
          <p:cNvSpPr/>
          <p:nvPr/>
        </p:nvSpPr>
        <p:spPr>
          <a:xfrm>
            <a:off x="2235200" y="2133600"/>
            <a:ext cx="5588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拍照打卡</a:t>
            </a:r>
          </a:p>
        </p:txBody>
      </p:sp>
      <p:sp>
        <p:nvSpPr>
          <p:cNvPr id="32" name="rect 23"/>
          <p:cNvSpPr/>
          <p:nvPr/>
        </p:nvSpPr>
        <p:spPr>
          <a:xfrm>
            <a:off x="3492500" y="2133600"/>
            <a:ext cx="393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 b="1">
                <a:solidFill>
                  <a:srgbClr val="6F4E37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67 份</a:t>
            </a:r>
          </a:p>
        </p:txBody>
      </p:sp>
      <p:sp>
        <p:nvSpPr>
          <p:cNvPr id="33" name="ellipse 2"/>
          <p:cNvSpPr/>
          <p:nvPr/>
        </p:nvSpPr>
        <p:spPr>
          <a:xfrm>
            <a:off x="2044700" y="2514600"/>
            <a:ext cx="101600" cy="101600"/>
          </a:xfrm>
          <a:prstGeom prst="ellipse">
            <a:avLst/>
          </a:prstGeom>
          <a:solidFill>
            <a:srgbClr val="D9BF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4" name="rect 24"/>
          <p:cNvSpPr/>
          <p:nvPr/>
        </p:nvSpPr>
        <p:spPr>
          <a:xfrm>
            <a:off x="2235200" y="2438400"/>
            <a:ext cx="3302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提神</a:t>
            </a:r>
          </a:p>
        </p:txBody>
      </p:sp>
      <p:sp>
        <p:nvSpPr>
          <p:cNvPr id="35" name="rect 25"/>
          <p:cNvSpPr/>
          <p:nvPr/>
        </p:nvSpPr>
        <p:spPr>
          <a:xfrm>
            <a:off x="3492500" y="2438400"/>
            <a:ext cx="393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 b="1">
                <a:solidFill>
                  <a:srgbClr val="A9784F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19 份</a:t>
            </a:r>
          </a:p>
        </p:txBody>
      </p:sp>
      <p:cxnSp>
        <p:nvCxnSpPr>
          <p:cNvPr id="36" name="line 2"/>
          <p:cNvCxnSpPr/>
          <p:nvPr/>
        </p:nvCxnSpPr>
        <p:spPr>
          <a:xfrm>
            <a:off x="584200" y="2965450"/>
            <a:ext cx="3302000" cy="12700"/>
          </a:xfrm>
          <a:prstGeom prst="line">
            <a:avLst/>
          </a:prstGeom>
          <a:noFill/>
          <a:ln w="12700">
            <a:solidFill>
              <a:srgbClr val="EADFD0"/>
            </a:solidFill>
          </a:ln>
        </p:spPr>
      </p:cxnSp>
      <p:sp>
        <p:nvSpPr>
          <p:cNvPr id="37" name="rect 26"/>
          <p:cNvSpPr/>
          <p:nvPr/>
        </p:nvSpPr>
        <p:spPr>
          <a:xfrm>
            <a:off x="584200" y="3060700"/>
            <a:ext cx="17780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74 份该题双选，系统按第一项计入</a:t>
            </a:r>
          </a:p>
        </p:txBody>
      </p:sp>
      <p:sp>
        <p:nvSpPr>
          <p:cNvPr id="38" name="rect 27"/>
          <p:cNvSpPr/>
          <p:nvPr/>
        </p:nvSpPr>
        <p:spPr>
          <a:xfrm>
            <a:off x="584200" y="3289300"/>
            <a:ext cx="6223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基数 n=86</a:t>
            </a:r>
          </a:p>
        </p:txBody>
      </p:sp>
      <p:sp>
        <p:nvSpPr>
          <p:cNvPr id="39" name="roundRect 7"/>
          <p:cNvSpPr/>
          <p:nvPr/>
        </p:nvSpPr>
        <p:spPr>
          <a:xfrm>
            <a:off x="4267200" y="1473200"/>
            <a:ext cx="3657600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EADF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 28"/>
          <p:cNvSpPr/>
          <p:nvPr/>
        </p:nvSpPr>
        <p:spPr>
          <a:xfrm>
            <a:off x="4445000" y="1612900"/>
            <a:ext cx="12192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1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回收样本年级分布</a:t>
            </a:r>
          </a:p>
        </p:txBody>
      </p:sp>
      <p:sp>
        <p:nvSpPr>
          <p:cNvPr id="41" name="rect 29"/>
          <p:cNvSpPr/>
          <p:nvPr/>
        </p:nvSpPr>
        <p:spPr>
          <a:xfrm>
            <a:off x="7353300" y="1612900"/>
            <a:ext cx="393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en-US" sz="900">
                <a:solidFill>
                  <a:srgbClr val="B9A392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n=86</a:t>
            </a:r>
          </a:p>
        </p:txBody>
      </p:sp>
      <p:cxnSp>
        <p:nvCxnSpPr>
          <p:cNvPr id="42" name="line 3"/>
          <p:cNvCxnSpPr/>
          <p:nvPr/>
        </p:nvCxnSpPr>
        <p:spPr>
          <a:xfrm>
            <a:off x="4445000" y="3346450"/>
            <a:ext cx="3302000" cy="12700"/>
          </a:xfrm>
          <a:prstGeom prst="line">
            <a:avLst/>
          </a:prstGeom>
          <a:noFill/>
          <a:ln w="12700">
            <a:solidFill>
              <a:srgbClr val="EADFD0"/>
            </a:solidFill>
          </a:ln>
        </p:spPr>
      </p:cxnSp>
      <p:sp>
        <p:nvSpPr>
          <p:cNvPr id="43" name="roundRect 8"/>
          <p:cNvSpPr/>
          <p:nvPr/>
        </p:nvSpPr>
        <p:spPr>
          <a:xfrm>
            <a:off x="4495800" y="2057400"/>
            <a:ext cx="571500" cy="1295400"/>
          </a:xfrm>
          <a:prstGeom prst="roundRect">
            <a:avLst>
              <a:gd fmla="val 6667" name="adj"/>
            </a:avLst>
          </a:prstGeom>
          <a:solidFill>
            <a:srgbClr val="6F4E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 30"/>
          <p:cNvSpPr/>
          <p:nvPr/>
        </p:nvSpPr>
        <p:spPr>
          <a:xfrm>
            <a:off x="4660900" y="1816100"/>
            <a:ext cx="241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36</a:t>
            </a:r>
          </a:p>
        </p:txBody>
      </p:sp>
      <p:sp>
        <p:nvSpPr>
          <p:cNvPr id="45" name="rect 31"/>
          <p:cNvSpPr/>
          <p:nvPr/>
        </p:nvSpPr>
        <p:spPr>
          <a:xfrm>
            <a:off x="4622800" y="33655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大一</a:t>
            </a:r>
          </a:p>
        </p:txBody>
      </p:sp>
      <p:sp>
        <p:nvSpPr>
          <p:cNvPr id="46" name="rect 32"/>
          <p:cNvSpPr/>
          <p:nvPr/>
        </p:nvSpPr>
        <p:spPr>
          <a:xfrm>
            <a:off x="4622800" y="35306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en-US" sz="800">
                <a:solidFill>
                  <a:srgbClr val="B9A392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42%</a:t>
            </a:r>
          </a:p>
        </p:txBody>
      </p:sp>
      <p:sp>
        <p:nvSpPr>
          <p:cNvPr id="47" name="roundRect 9"/>
          <p:cNvSpPr/>
          <p:nvPr/>
        </p:nvSpPr>
        <p:spPr>
          <a:xfrm>
            <a:off x="5321300" y="2381250"/>
            <a:ext cx="571500" cy="971550"/>
          </a:xfrm>
          <a:prstGeom prst="roundRect">
            <a:avLst>
              <a:gd fmla="val 6667" name="adj"/>
            </a:avLst>
          </a:prstGeom>
          <a:solidFill>
            <a:srgbClr val="A9784F">
              <a:alpha val="8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 33"/>
          <p:cNvSpPr/>
          <p:nvPr/>
        </p:nvSpPr>
        <p:spPr>
          <a:xfrm>
            <a:off x="5486400" y="2139950"/>
            <a:ext cx="241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27</a:t>
            </a:r>
          </a:p>
        </p:txBody>
      </p:sp>
      <p:sp>
        <p:nvSpPr>
          <p:cNvPr id="49" name="rect 34"/>
          <p:cNvSpPr/>
          <p:nvPr/>
        </p:nvSpPr>
        <p:spPr>
          <a:xfrm>
            <a:off x="5448300" y="33655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大二</a:t>
            </a:r>
          </a:p>
        </p:txBody>
      </p:sp>
      <p:sp>
        <p:nvSpPr>
          <p:cNvPr id="50" name="rect 35"/>
          <p:cNvSpPr/>
          <p:nvPr/>
        </p:nvSpPr>
        <p:spPr>
          <a:xfrm>
            <a:off x="5448300" y="35306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en-US" sz="800">
                <a:solidFill>
                  <a:srgbClr val="B9A392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31%</a:t>
            </a:r>
          </a:p>
        </p:txBody>
      </p:sp>
      <p:sp>
        <p:nvSpPr>
          <p:cNvPr id="51" name="roundRect 10"/>
          <p:cNvSpPr/>
          <p:nvPr/>
        </p:nvSpPr>
        <p:spPr>
          <a:xfrm>
            <a:off x="6146800" y="2741041"/>
            <a:ext cx="571500" cy="611759"/>
          </a:xfrm>
          <a:prstGeom prst="roundRect">
            <a:avLst>
              <a:gd fmla="val 6667" name="adj"/>
            </a:avLst>
          </a:prstGeom>
          <a:solidFill>
            <a:srgbClr val="A9784F">
              <a:alpha val="7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 36"/>
          <p:cNvSpPr/>
          <p:nvPr/>
        </p:nvSpPr>
        <p:spPr>
          <a:xfrm>
            <a:off x="6311900" y="2499741"/>
            <a:ext cx="2413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17</a:t>
            </a:r>
          </a:p>
        </p:txBody>
      </p:sp>
      <p:sp>
        <p:nvSpPr>
          <p:cNvPr id="53" name="rect 37"/>
          <p:cNvSpPr/>
          <p:nvPr/>
        </p:nvSpPr>
        <p:spPr>
          <a:xfrm>
            <a:off x="6273800" y="33655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大三</a:t>
            </a:r>
          </a:p>
        </p:txBody>
      </p:sp>
      <p:sp>
        <p:nvSpPr>
          <p:cNvPr id="54" name="rect 38"/>
          <p:cNvSpPr/>
          <p:nvPr/>
        </p:nvSpPr>
        <p:spPr>
          <a:xfrm>
            <a:off x="6273800" y="35306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en-US" sz="800">
                <a:solidFill>
                  <a:srgbClr val="B9A392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20%</a:t>
            </a:r>
          </a:p>
        </p:txBody>
      </p:sp>
      <p:sp>
        <p:nvSpPr>
          <p:cNvPr id="55" name="roundRect 11"/>
          <p:cNvSpPr/>
          <p:nvPr/>
        </p:nvSpPr>
        <p:spPr>
          <a:xfrm>
            <a:off x="6972300" y="3136900"/>
            <a:ext cx="571500" cy="215900"/>
          </a:xfrm>
          <a:prstGeom prst="roundRect">
            <a:avLst>
              <a:gd fmla="val 17647" name="adj"/>
            </a:avLst>
          </a:prstGeom>
          <a:solidFill>
            <a:srgbClr val="A9784F">
              <a:alpha val="5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 39"/>
          <p:cNvSpPr/>
          <p:nvPr/>
        </p:nvSpPr>
        <p:spPr>
          <a:xfrm>
            <a:off x="7169150" y="2895600"/>
            <a:ext cx="1778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6</a:t>
            </a:r>
          </a:p>
        </p:txBody>
      </p:sp>
      <p:sp>
        <p:nvSpPr>
          <p:cNvPr id="57" name="rect 40"/>
          <p:cNvSpPr/>
          <p:nvPr/>
        </p:nvSpPr>
        <p:spPr>
          <a:xfrm>
            <a:off x="7099300" y="33655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4000"/>
              </a:lnSpc>
              <a:buNone/>
            </a:pPr>
            <a:r>
              <a:rPr lang="zh-CN" sz="851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大四</a:t>
            </a:r>
          </a:p>
        </p:txBody>
      </p:sp>
      <p:sp>
        <p:nvSpPr>
          <p:cNvPr id="58" name="rect 41"/>
          <p:cNvSpPr/>
          <p:nvPr/>
        </p:nvSpPr>
        <p:spPr>
          <a:xfrm>
            <a:off x="7131050" y="3530600"/>
            <a:ext cx="2540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en-US" sz="800">
                <a:solidFill>
                  <a:srgbClr val="B9A392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7%</a:t>
            </a:r>
          </a:p>
        </p:txBody>
      </p:sp>
      <p:sp>
        <p:nvSpPr>
          <p:cNvPr id="59" name="roundRect 12"/>
          <p:cNvSpPr/>
          <p:nvPr/>
        </p:nvSpPr>
        <p:spPr>
          <a:xfrm>
            <a:off x="8128000" y="1473200"/>
            <a:ext cx="3657600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EADF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 42"/>
          <p:cNvSpPr/>
          <p:nvPr/>
        </p:nvSpPr>
        <p:spPr>
          <a:xfrm>
            <a:off x="8305800" y="1612900"/>
            <a:ext cx="6604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1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购买场景</a:t>
            </a:r>
          </a:p>
        </p:txBody>
      </p:sp>
      <p:sp>
        <p:nvSpPr>
          <p:cNvPr id="61" name="rect 43"/>
          <p:cNvSpPr/>
          <p:nvPr/>
        </p:nvSpPr>
        <p:spPr>
          <a:xfrm>
            <a:off x="11163300" y="1612900"/>
            <a:ext cx="4445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多选题</a:t>
            </a:r>
          </a:p>
        </p:txBody>
      </p:sp>
      <p:sp>
        <p:nvSpPr>
          <p:cNvPr id="62" name="rect 44"/>
          <p:cNvSpPr/>
          <p:nvPr/>
        </p:nvSpPr>
        <p:spPr>
          <a:xfrm>
            <a:off x="8305800" y="2006600"/>
            <a:ext cx="7493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自习 / 写作业</a:t>
            </a:r>
          </a:p>
        </p:txBody>
      </p:sp>
      <p:sp>
        <p:nvSpPr>
          <p:cNvPr id="63" name="roundRect 13"/>
          <p:cNvSpPr/>
          <p:nvPr/>
        </p:nvSpPr>
        <p:spPr>
          <a:xfrm>
            <a:off x="9448800" y="20574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roundRect 14"/>
          <p:cNvSpPr/>
          <p:nvPr/>
        </p:nvSpPr>
        <p:spPr>
          <a:xfrm>
            <a:off x="9448800" y="2057400"/>
            <a:ext cx="1527429" cy="139700"/>
          </a:xfrm>
          <a:prstGeom prst="roundRect">
            <a:avLst>
              <a:gd fmla="val 50000" name="adj"/>
            </a:avLst>
          </a:prstGeom>
          <a:solidFill>
            <a:srgbClr val="6F4E3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 45"/>
          <p:cNvSpPr/>
          <p:nvPr/>
        </p:nvSpPr>
        <p:spPr>
          <a:xfrm>
            <a:off x="11277600" y="20066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41%</a:t>
            </a:r>
          </a:p>
        </p:txBody>
      </p:sp>
      <p:sp>
        <p:nvSpPr>
          <p:cNvPr id="66" name="rect 46"/>
          <p:cNvSpPr/>
          <p:nvPr/>
        </p:nvSpPr>
        <p:spPr>
          <a:xfrm>
            <a:off x="8305800" y="2413000"/>
            <a:ext cx="8636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社交 / 拍照打卡</a:t>
            </a:r>
          </a:p>
        </p:txBody>
      </p:sp>
      <p:sp>
        <p:nvSpPr>
          <p:cNvPr id="67" name="roundRect 15"/>
          <p:cNvSpPr/>
          <p:nvPr/>
        </p:nvSpPr>
        <p:spPr>
          <a:xfrm>
            <a:off x="9448800" y="24638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roundRect 16"/>
          <p:cNvSpPr/>
          <p:nvPr/>
        </p:nvSpPr>
        <p:spPr>
          <a:xfrm>
            <a:off x="9448800" y="2463800"/>
            <a:ext cx="1229360" cy="139700"/>
          </a:xfrm>
          <a:prstGeom prst="roundRect">
            <a:avLst>
              <a:gd fmla="val 50000" name="adj"/>
            </a:avLst>
          </a:prstGeom>
          <a:solidFill>
            <a:srgbClr val="6F4E37">
              <a:alpha val="83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 47"/>
          <p:cNvSpPr/>
          <p:nvPr/>
        </p:nvSpPr>
        <p:spPr>
          <a:xfrm>
            <a:off x="11277600" y="24130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33%</a:t>
            </a:r>
          </a:p>
        </p:txBody>
      </p:sp>
      <p:sp>
        <p:nvSpPr>
          <p:cNvPr id="70" name="rect 48"/>
          <p:cNvSpPr/>
          <p:nvPr/>
        </p:nvSpPr>
        <p:spPr>
          <a:xfrm>
            <a:off x="8305800" y="2819400"/>
            <a:ext cx="7493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赶早课 / 提神</a:t>
            </a:r>
          </a:p>
        </p:txBody>
      </p:sp>
      <p:sp>
        <p:nvSpPr>
          <p:cNvPr id="71" name="roundRect 17"/>
          <p:cNvSpPr/>
          <p:nvPr/>
        </p:nvSpPr>
        <p:spPr>
          <a:xfrm>
            <a:off x="9448800" y="28702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Rect 18"/>
          <p:cNvSpPr/>
          <p:nvPr/>
        </p:nvSpPr>
        <p:spPr>
          <a:xfrm>
            <a:off x="9448800" y="2870200"/>
            <a:ext cx="558800" cy="139700"/>
          </a:xfrm>
          <a:prstGeom prst="roundRect">
            <a:avLst>
              <a:gd fmla="val 50000" name="adj"/>
            </a:avLst>
          </a:prstGeom>
          <a:solidFill>
            <a:srgbClr val="6F4E37">
              <a:alpha val="66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 49"/>
          <p:cNvSpPr/>
          <p:nvPr/>
        </p:nvSpPr>
        <p:spPr>
          <a:xfrm>
            <a:off x="11277600" y="28194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15%</a:t>
            </a:r>
          </a:p>
        </p:txBody>
      </p:sp>
      <p:sp>
        <p:nvSpPr>
          <p:cNvPr id="74" name="rect 50"/>
          <p:cNvSpPr/>
          <p:nvPr/>
        </p:nvSpPr>
        <p:spPr>
          <a:xfrm>
            <a:off x="8305800" y="3225800"/>
            <a:ext cx="3175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其他</a:t>
            </a:r>
          </a:p>
        </p:txBody>
      </p:sp>
      <p:sp>
        <p:nvSpPr>
          <p:cNvPr id="75" name="roundRect 19"/>
          <p:cNvSpPr/>
          <p:nvPr/>
        </p:nvSpPr>
        <p:spPr>
          <a:xfrm>
            <a:off x="9448800" y="32766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roundRect 20"/>
          <p:cNvSpPr/>
          <p:nvPr/>
        </p:nvSpPr>
        <p:spPr>
          <a:xfrm>
            <a:off x="9448800" y="3276600"/>
            <a:ext cx="409829" cy="139700"/>
          </a:xfrm>
          <a:prstGeom prst="roundRect">
            <a:avLst>
              <a:gd fmla="val 50000" name="adj"/>
            </a:avLst>
          </a:prstGeom>
          <a:solidFill>
            <a:srgbClr val="6F4E37">
              <a:alpha val="49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 51"/>
          <p:cNvSpPr/>
          <p:nvPr/>
        </p:nvSpPr>
        <p:spPr>
          <a:xfrm>
            <a:off x="11277600" y="32258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11%</a:t>
            </a:r>
          </a:p>
        </p:txBody>
      </p:sp>
      <p:sp>
        <p:nvSpPr>
          <p:cNvPr id="78" name="roundRect 21"/>
          <p:cNvSpPr/>
          <p:nvPr/>
        </p:nvSpPr>
        <p:spPr>
          <a:xfrm>
            <a:off x="406400" y="3860800"/>
            <a:ext cx="3657600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EADF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rect 52"/>
          <p:cNvSpPr/>
          <p:nvPr/>
        </p:nvSpPr>
        <p:spPr>
          <a:xfrm>
            <a:off x="584200" y="4000500"/>
            <a:ext cx="9398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1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每周购买杯数</a:t>
            </a:r>
          </a:p>
        </p:txBody>
      </p:sp>
      <p:sp>
        <p:nvSpPr>
          <p:cNvPr id="80" name="rect 53"/>
          <p:cNvSpPr/>
          <p:nvPr/>
        </p:nvSpPr>
        <p:spPr>
          <a:xfrm>
            <a:off x="3556000" y="4000500"/>
            <a:ext cx="3302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单选</a:t>
            </a:r>
          </a:p>
        </p:txBody>
      </p:sp>
      <p:cxnSp>
        <p:nvCxnSpPr>
          <p:cNvPr id="81" name="line 4"/>
          <p:cNvCxnSpPr/>
          <p:nvPr/>
        </p:nvCxnSpPr>
        <p:spPr>
          <a:xfrm>
            <a:off x="584200" y="5734050"/>
            <a:ext cx="3302000" cy="12700"/>
          </a:xfrm>
          <a:prstGeom prst="line">
            <a:avLst/>
          </a:prstGeom>
          <a:noFill/>
          <a:ln w="12700">
            <a:solidFill>
              <a:srgbClr val="EADFD0"/>
            </a:solidFill>
          </a:ln>
        </p:spPr>
      </p:cxnSp>
      <p:sp>
        <p:nvSpPr>
          <p:cNvPr id="82" name="roundRect 22"/>
          <p:cNvSpPr/>
          <p:nvPr/>
        </p:nvSpPr>
        <p:spPr>
          <a:xfrm>
            <a:off x="685800" y="5128387"/>
            <a:ext cx="381000" cy="612013"/>
          </a:xfrm>
          <a:prstGeom prst="roundRect">
            <a:avLst>
              <a:gd fmla="val 10000" name="adj"/>
            </a:avLst>
          </a:prstGeom>
          <a:solidFill>
            <a:srgbClr val="A97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 54"/>
          <p:cNvSpPr/>
          <p:nvPr/>
        </p:nvSpPr>
        <p:spPr>
          <a:xfrm>
            <a:off x="698500" y="4887087"/>
            <a:ext cx="3556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22%</a:t>
            </a:r>
          </a:p>
        </p:txBody>
      </p:sp>
      <p:sp>
        <p:nvSpPr>
          <p:cNvPr id="84" name="rect 55"/>
          <p:cNvSpPr/>
          <p:nvPr/>
        </p:nvSpPr>
        <p:spPr>
          <a:xfrm>
            <a:off x="673100" y="5753100"/>
            <a:ext cx="406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zh-CN" sz="8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0–1 杯</a:t>
            </a:r>
          </a:p>
        </p:txBody>
      </p:sp>
      <p:sp>
        <p:nvSpPr>
          <p:cNvPr id="85" name="roundRect 23"/>
          <p:cNvSpPr/>
          <p:nvPr/>
        </p:nvSpPr>
        <p:spPr>
          <a:xfrm>
            <a:off x="1473200" y="4683252"/>
            <a:ext cx="381000" cy="1057148"/>
          </a:xfrm>
          <a:prstGeom prst="roundRect">
            <a:avLst>
              <a:gd fmla="val 10000" name="adj"/>
            </a:avLst>
          </a:prstGeom>
          <a:solidFill>
            <a:srgbClr val="6F4E37">
              <a:alpha val="87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rect 56"/>
          <p:cNvSpPr/>
          <p:nvPr/>
        </p:nvSpPr>
        <p:spPr>
          <a:xfrm>
            <a:off x="1485900" y="4441952"/>
            <a:ext cx="3556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38%</a:t>
            </a:r>
          </a:p>
        </p:txBody>
      </p:sp>
      <p:sp>
        <p:nvSpPr>
          <p:cNvPr id="87" name="rect 57"/>
          <p:cNvSpPr/>
          <p:nvPr/>
        </p:nvSpPr>
        <p:spPr>
          <a:xfrm>
            <a:off x="1460500" y="5753100"/>
            <a:ext cx="406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zh-CN" sz="8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2–3 杯</a:t>
            </a:r>
          </a:p>
        </p:txBody>
      </p:sp>
      <p:sp>
        <p:nvSpPr>
          <p:cNvPr id="88" name="roundRect 24"/>
          <p:cNvSpPr/>
          <p:nvPr/>
        </p:nvSpPr>
        <p:spPr>
          <a:xfrm>
            <a:off x="2260600" y="4989322"/>
            <a:ext cx="381000" cy="751078"/>
          </a:xfrm>
          <a:prstGeom prst="roundRect">
            <a:avLst>
              <a:gd fmla="val 10000" name="adj"/>
            </a:avLst>
          </a:prstGeom>
          <a:solidFill>
            <a:srgbClr val="A9784F">
              <a:alpha val="7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 58"/>
          <p:cNvSpPr/>
          <p:nvPr/>
        </p:nvSpPr>
        <p:spPr>
          <a:xfrm>
            <a:off x="2273300" y="4748022"/>
            <a:ext cx="3556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27%</a:t>
            </a:r>
          </a:p>
        </p:txBody>
      </p:sp>
      <p:sp>
        <p:nvSpPr>
          <p:cNvPr id="90" name="rect 59"/>
          <p:cNvSpPr/>
          <p:nvPr/>
        </p:nvSpPr>
        <p:spPr>
          <a:xfrm>
            <a:off x="2247900" y="5753100"/>
            <a:ext cx="406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zh-CN" sz="8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4–5 杯</a:t>
            </a:r>
          </a:p>
        </p:txBody>
      </p:sp>
      <p:sp>
        <p:nvSpPr>
          <p:cNvPr id="91" name="roundRect 25"/>
          <p:cNvSpPr/>
          <p:nvPr/>
        </p:nvSpPr>
        <p:spPr>
          <a:xfrm>
            <a:off x="3048000" y="5378704"/>
            <a:ext cx="381000" cy="361696"/>
          </a:xfrm>
          <a:prstGeom prst="roundRect">
            <a:avLst>
              <a:gd fmla="val 10535" name="adj"/>
            </a:avLst>
          </a:prstGeom>
          <a:solidFill>
            <a:srgbClr val="A9784F">
              <a:alpha val="61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 60"/>
          <p:cNvSpPr/>
          <p:nvPr/>
        </p:nvSpPr>
        <p:spPr>
          <a:xfrm>
            <a:off x="3060700" y="5137404"/>
            <a:ext cx="3556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8000"/>
              </a:lnSpc>
              <a:buNone/>
            </a:pPr>
            <a:r>
              <a:rPr lang="en-US" sz="900" b="1">
                <a:solidFill>
                  <a:srgbClr val="2E1F16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13%</a:t>
            </a:r>
          </a:p>
        </p:txBody>
      </p:sp>
      <p:sp>
        <p:nvSpPr>
          <p:cNvPr id="93" name="rect 61"/>
          <p:cNvSpPr/>
          <p:nvPr/>
        </p:nvSpPr>
        <p:spPr>
          <a:xfrm>
            <a:off x="2990850" y="5753100"/>
            <a:ext cx="4953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60000"/>
              </a:lnSpc>
              <a:buNone/>
            </a:pPr>
            <a:r>
              <a:rPr lang="zh-CN" sz="8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6 杯以上</a:t>
            </a:r>
          </a:p>
        </p:txBody>
      </p:sp>
      <p:sp>
        <p:nvSpPr>
          <p:cNvPr id="94" name="roundRect 26"/>
          <p:cNvSpPr/>
          <p:nvPr/>
        </p:nvSpPr>
        <p:spPr>
          <a:xfrm>
            <a:off x="4267200" y="3860800"/>
            <a:ext cx="3657600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EADF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 62"/>
          <p:cNvSpPr/>
          <p:nvPr/>
        </p:nvSpPr>
        <p:spPr>
          <a:xfrm>
            <a:off x="4445000" y="4000500"/>
            <a:ext cx="10795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1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单杯可接受价格</a:t>
            </a:r>
          </a:p>
        </p:txBody>
      </p:sp>
      <p:sp>
        <p:nvSpPr>
          <p:cNvPr id="96" name="rect 63"/>
          <p:cNvSpPr/>
          <p:nvPr/>
        </p:nvSpPr>
        <p:spPr>
          <a:xfrm>
            <a:off x="7416800" y="4000500"/>
            <a:ext cx="3302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单选</a:t>
            </a:r>
          </a:p>
        </p:txBody>
      </p:sp>
      <p:sp>
        <p:nvSpPr>
          <p:cNvPr id="97" name="rect 64"/>
          <p:cNvSpPr/>
          <p:nvPr/>
        </p:nvSpPr>
        <p:spPr>
          <a:xfrm>
            <a:off x="4445000" y="4394200"/>
            <a:ext cx="4826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≤ 10 元</a:t>
            </a:r>
          </a:p>
        </p:txBody>
      </p:sp>
      <p:sp>
        <p:nvSpPr>
          <p:cNvPr id="98" name="roundRect 27"/>
          <p:cNvSpPr/>
          <p:nvPr/>
        </p:nvSpPr>
        <p:spPr>
          <a:xfrm>
            <a:off x="5486400" y="44450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roundRect 28"/>
          <p:cNvSpPr/>
          <p:nvPr/>
        </p:nvSpPr>
        <p:spPr>
          <a:xfrm>
            <a:off x="5486400" y="4445000"/>
            <a:ext cx="447040" cy="139700"/>
          </a:xfrm>
          <a:prstGeom prst="roundRect">
            <a:avLst>
              <a:gd fmla="val 50000" name="adj"/>
            </a:avLst>
          </a:prstGeom>
          <a:solidFill>
            <a:srgbClr val="A9784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rect 65"/>
          <p:cNvSpPr/>
          <p:nvPr/>
        </p:nvSpPr>
        <p:spPr>
          <a:xfrm>
            <a:off x="7416800" y="43942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12%</a:t>
            </a:r>
          </a:p>
        </p:txBody>
      </p:sp>
      <p:sp>
        <p:nvSpPr>
          <p:cNvPr id="101" name="rect 66"/>
          <p:cNvSpPr/>
          <p:nvPr/>
        </p:nvSpPr>
        <p:spPr>
          <a:xfrm>
            <a:off x="4445000" y="4800600"/>
            <a:ext cx="5588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11–15 元</a:t>
            </a:r>
          </a:p>
        </p:txBody>
      </p:sp>
      <p:sp>
        <p:nvSpPr>
          <p:cNvPr id="102" name="roundRect 29"/>
          <p:cNvSpPr/>
          <p:nvPr/>
        </p:nvSpPr>
        <p:spPr>
          <a:xfrm>
            <a:off x="5486400" y="48514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roundRect 30"/>
          <p:cNvSpPr/>
          <p:nvPr/>
        </p:nvSpPr>
        <p:spPr>
          <a:xfrm>
            <a:off x="5486400" y="4851400"/>
            <a:ext cx="1266571" cy="139700"/>
          </a:xfrm>
          <a:prstGeom prst="roundRect">
            <a:avLst>
              <a:gd fmla="val 50000" name="adj"/>
            </a:avLst>
          </a:prstGeom>
          <a:solidFill>
            <a:srgbClr val="A9784F">
              <a:alpha val="9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 67"/>
          <p:cNvSpPr/>
          <p:nvPr/>
        </p:nvSpPr>
        <p:spPr>
          <a:xfrm>
            <a:off x="7416800" y="48006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34%</a:t>
            </a:r>
          </a:p>
        </p:txBody>
      </p:sp>
      <p:sp>
        <p:nvSpPr>
          <p:cNvPr id="105" name="rect 68"/>
          <p:cNvSpPr/>
          <p:nvPr/>
        </p:nvSpPr>
        <p:spPr>
          <a:xfrm>
            <a:off x="4445000" y="5207000"/>
            <a:ext cx="5588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16–20 元</a:t>
            </a:r>
          </a:p>
        </p:txBody>
      </p:sp>
      <p:sp>
        <p:nvSpPr>
          <p:cNvPr id="106" name="roundRect 31"/>
          <p:cNvSpPr/>
          <p:nvPr/>
        </p:nvSpPr>
        <p:spPr>
          <a:xfrm>
            <a:off x="5486400" y="52578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roundRect 32"/>
          <p:cNvSpPr/>
          <p:nvPr/>
        </p:nvSpPr>
        <p:spPr>
          <a:xfrm>
            <a:off x="5486400" y="5257800"/>
            <a:ext cx="1452880" cy="139700"/>
          </a:xfrm>
          <a:prstGeom prst="roundRect">
            <a:avLst>
              <a:gd fmla="val 50000" name="adj"/>
            </a:avLst>
          </a:prstGeom>
          <a:solidFill>
            <a:srgbClr val="C08A3E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 69"/>
          <p:cNvSpPr/>
          <p:nvPr/>
        </p:nvSpPr>
        <p:spPr>
          <a:xfrm>
            <a:off x="7416800" y="52070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39%</a:t>
            </a:r>
          </a:p>
        </p:txBody>
      </p:sp>
      <p:sp>
        <p:nvSpPr>
          <p:cNvPr id="109" name="rect 70"/>
          <p:cNvSpPr/>
          <p:nvPr/>
        </p:nvSpPr>
        <p:spPr>
          <a:xfrm>
            <a:off x="4445000" y="5613400"/>
            <a:ext cx="584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21 元以上</a:t>
            </a:r>
          </a:p>
        </p:txBody>
      </p:sp>
      <p:sp>
        <p:nvSpPr>
          <p:cNvPr id="110" name="roundRect 33"/>
          <p:cNvSpPr/>
          <p:nvPr/>
        </p:nvSpPr>
        <p:spPr>
          <a:xfrm>
            <a:off x="5486400" y="5664200"/>
            <a:ext cx="1676400" cy="139700"/>
          </a:xfrm>
          <a:prstGeom prst="roundRect">
            <a:avLst>
              <a:gd fmla="val 50000" name="adj"/>
            </a:avLst>
          </a:prstGeom>
          <a:solidFill>
            <a:srgbClr val="F7F1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undRect 34"/>
          <p:cNvSpPr/>
          <p:nvPr/>
        </p:nvSpPr>
        <p:spPr>
          <a:xfrm>
            <a:off x="5486400" y="5664200"/>
            <a:ext cx="558800" cy="139700"/>
          </a:xfrm>
          <a:prstGeom prst="roundRect">
            <a:avLst>
              <a:gd fmla="val 50000" name="adj"/>
            </a:avLst>
          </a:prstGeom>
          <a:solidFill>
            <a:srgbClr val="A9784F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rect 71"/>
          <p:cNvSpPr/>
          <p:nvPr/>
        </p:nvSpPr>
        <p:spPr>
          <a:xfrm>
            <a:off x="7416800" y="5613400"/>
            <a:ext cx="3302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en-US" sz="851" b="1">
                <a:solidFill>
                  <a:srgbClr val="6F4E37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15%</a:t>
            </a:r>
          </a:p>
        </p:txBody>
      </p:sp>
      <p:sp>
        <p:nvSpPr>
          <p:cNvPr id="113" name="roundRect 35"/>
          <p:cNvSpPr/>
          <p:nvPr/>
        </p:nvSpPr>
        <p:spPr>
          <a:xfrm>
            <a:off x="8128000" y="3860800"/>
            <a:ext cx="3657600" cy="2286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w="12700">
            <a:solidFill>
              <a:srgbClr val="EADFD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rect 72"/>
          <p:cNvSpPr/>
          <p:nvPr/>
        </p:nvSpPr>
        <p:spPr>
          <a:xfrm>
            <a:off x="8305800" y="4000500"/>
            <a:ext cx="9398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11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数据质量核对</a:t>
            </a:r>
          </a:p>
        </p:txBody>
      </p:sp>
      <p:sp>
        <p:nvSpPr>
          <p:cNvPr id="115" name="rect 73"/>
          <p:cNvSpPr/>
          <p:nvPr/>
        </p:nvSpPr>
        <p:spPr>
          <a:xfrm>
            <a:off x="10934700" y="4000500"/>
            <a:ext cx="6731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采集后自检</a:t>
            </a:r>
          </a:p>
        </p:txBody>
      </p:sp>
      <p:sp>
        <p:nvSpPr>
          <p:cNvPr id="116" name="rect 74"/>
          <p:cNvSpPr/>
          <p:nvPr/>
        </p:nvSpPr>
        <p:spPr>
          <a:xfrm>
            <a:off x="8305800" y="4305300"/>
            <a:ext cx="5588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发放问卷</a:t>
            </a:r>
          </a:p>
        </p:txBody>
      </p:sp>
      <p:sp>
        <p:nvSpPr>
          <p:cNvPr id="117" name="rect 75"/>
          <p:cNvSpPr/>
          <p:nvPr/>
        </p:nvSpPr>
        <p:spPr>
          <a:xfrm>
            <a:off x="11150600" y="4305300"/>
            <a:ext cx="4572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200 份</a:t>
            </a:r>
          </a:p>
        </p:txBody>
      </p:sp>
      <p:cxnSp>
        <p:nvCxnSpPr>
          <p:cNvPr id="118" name="line 5"/>
          <p:cNvCxnSpPr/>
          <p:nvPr/>
        </p:nvCxnSpPr>
        <p:spPr>
          <a:xfrm>
            <a:off x="8305800" y="4565650"/>
            <a:ext cx="3302000" cy="12700"/>
          </a:xfrm>
          <a:prstGeom prst="line">
            <a:avLst/>
          </a:prstGeom>
          <a:noFill/>
          <a:ln w="12700">
            <a:solidFill>
              <a:srgbClr val="F4ECE2"/>
            </a:solidFill>
          </a:ln>
        </p:spPr>
      </p:cxnSp>
      <p:sp>
        <p:nvSpPr>
          <p:cNvPr id="119" name="rect 76"/>
          <p:cNvSpPr/>
          <p:nvPr/>
        </p:nvSpPr>
        <p:spPr>
          <a:xfrm>
            <a:off x="8305800" y="4622800"/>
            <a:ext cx="5588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成功回收</a:t>
            </a:r>
          </a:p>
        </p:txBody>
      </p:sp>
      <p:sp>
        <p:nvSpPr>
          <p:cNvPr id="120" name="rect 77"/>
          <p:cNvSpPr/>
          <p:nvPr/>
        </p:nvSpPr>
        <p:spPr>
          <a:xfrm>
            <a:off x="11214100" y="4622800"/>
            <a:ext cx="393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86 份</a:t>
            </a:r>
          </a:p>
        </p:txBody>
      </p:sp>
      <p:cxnSp>
        <p:nvCxnSpPr>
          <p:cNvPr id="121" name="line 6"/>
          <p:cNvCxnSpPr/>
          <p:nvPr/>
        </p:nvCxnSpPr>
        <p:spPr>
          <a:xfrm>
            <a:off x="8305800" y="4883150"/>
            <a:ext cx="3302000" cy="12700"/>
          </a:xfrm>
          <a:prstGeom prst="line">
            <a:avLst/>
          </a:prstGeom>
          <a:noFill/>
          <a:ln w="12700">
            <a:solidFill>
              <a:srgbClr val="F4ECE2"/>
            </a:solidFill>
          </a:ln>
        </p:spPr>
      </p:cxnSp>
      <p:sp>
        <p:nvSpPr>
          <p:cNvPr id="122" name="rect 78"/>
          <p:cNvSpPr/>
          <p:nvPr/>
        </p:nvSpPr>
        <p:spPr>
          <a:xfrm>
            <a:off x="8305800" y="4940300"/>
            <a:ext cx="5588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双选废卷</a:t>
            </a:r>
          </a:p>
        </p:txBody>
      </p:sp>
      <p:sp>
        <p:nvSpPr>
          <p:cNvPr id="123" name="rect 79"/>
          <p:cNvSpPr/>
          <p:nvPr/>
        </p:nvSpPr>
        <p:spPr>
          <a:xfrm>
            <a:off x="11214100" y="4940300"/>
            <a:ext cx="393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74 份</a:t>
            </a:r>
          </a:p>
        </p:txBody>
      </p:sp>
      <p:cxnSp>
        <p:nvCxnSpPr>
          <p:cNvPr id="124" name="line 7"/>
          <p:cNvCxnSpPr/>
          <p:nvPr/>
        </p:nvCxnSpPr>
        <p:spPr>
          <a:xfrm>
            <a:off x="8305800" y="5200650"/>
            <a:ext cx="3302000" cy="12700"/>
          </a:xfrm>
          <a:prstGeom prst="line">
            <a:avLst/>
          </a:prstGeom>
          <a:noFill/>
          <a:ln w="12700">
            <a:solidFill>
              <a:srgbClr val="F4ECE2"/>
            </a:solidFill>
          </a:ln>
        </p:spPr>
      </p:cxnSp>
      <p:sp>
        <p:nvSpPr>
          <p:cNvPr id="125" name="rect 80"/>
          <p:cNvSpPr/>
          <p:nvPr/>
        </p:nvSpPr>
        <p:spPr>
          <a:xfrm>
            <a:off x="8305800" y="5257800"/>
            <a:ext cx="5588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有效样本</a:t>
            </a:r>
          </a:p>
        </p:txBody>
      </p:sp>
      <p:sp>
        <p:nvSpPr>
          <p:cNvPr id="126" name="rect 81"/>
          <p:cNvSpPr/>
          <p:nvPr/>
        </p:nvSpPr>
        <p:spPr>
          <a:xfrm>
            <a:off x="11214100" y="5257800"/>
            <a:ext cx="393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zh-CN" sz="900" b="1">
                <a:solidFill>
                  <a:srgbClr val="2E1F16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12 份</a:t>
            </a:r>
          </a:p>
        </p:txBody>
      </p:sp>
      <p:cxnSp>
        <p:nvCxnSpPr>
          <p:cNvPr id="127" name="line 8"/>
          <p:cNvCxnSpPr/>
          <p:nvPr/>
        </p:nvCxnSpPr>
        <p:spPr>
          <a:xfrm>
            <a:off x="8305800" y="5518150"/>
            <a:ext cx="3302000" cy="12700"/>
          </a:xfrm>
          <a:prstGeom prst="line">
            <a:avLst/>
          </a:prstGeom>
          <a:noFill/>
          <a:ln w="12700">
            <a:solidFill>
              <a:srgbClr val="F4ECE2"/>
            </a:solidFill>
          </a:ln>
        </p:spPr>
      </p:cxnSp>
      <p:sp>
        <p:nvSpPr>
          <p:cNvPr id="128" name="rect 82"/>
          <p:cNvSpPr/>
          <p:nvPr/>
        </p:nvSpPr>
        <p:spPr>
          <a:xfrm>
            <a:off x="8305800" y="5575300"/>
            <a:ext cx="9017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8000"/>
              </a:lnSpc>
              <a:buNone/>
            </a:pPr>
            <a:r>
              <a:rPr lang="zh-CN" sz="900">
                <a:solidFill>
                  <a:srgbClr val="8A6F5E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回收率 / 有效率</a:t>
            </a:r>
          </a:p>
        </p:txBody>
      </p:sp>
      <p:sp>
        <p:nvSpPr>
          <p:cNvPr id="129" name="rect 83"/>
          <p:cNvSpPr/>
          <p:nvPr/>
        </p:nvSpPr>
        <p:spPr>
          <a:xfrm>
            <a:off x="10883900" y="5575300"/>
            <a:ext cx="723900" cy="139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8000"/>
              </a:lnSpc>
              <a:buNone/>
            </a:pPr>
            <a:r>
              <a:rPr lang="en-US" sz="900" b="1">
                <a:solidFill>
                  <a:srgbClr val="B4553A"/>
                </a:solidFill>
                <a:latin typeface="Microsoft YaHei"/>
                <a:ea typeface="Source Han Sans SC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Source Han Sans SC" sym=""/>
                  </a:ext>
                </a:extLst>
              </a:rPr>
              <a:t>43% / 14%</a:t>
            </a:r>
          </a:p>
        </p:txBody>
      </p:sp>
      <p:cxnSp>
        <p:nvCxnSpPr>
          <p:cNvPr id="130" name="line 9"/>
          <p:cNvCxnSpPr/>
          <p:nvPr/>
        </p:nvCxnSpPr>
        <p:spPr>
          <a:xfrm>
            <a:off x="8305800" y="5835650"/>
            <a:ext cx="3302000" cy="12700"/>
          </a:xfrm>
          <a:prstGeom prst="line">
            <a:avLst/>
          </a:prstGeom>
          <a:noFill/>
          <a:ln w="12700">
            <a:solidFill>
              <a:srgbClr val="F4ECE2"/>
            </a:solidFill>
          </a:ln>
        </p:spPr>
      </p:cxnSp>
      <p:sp>
        <p:nvSpPr>
          <p:cNvPr id="131" name="rect 84"/>
          <p:cNvSpPr/>
          <p:nvPr/>
        </p:nvSpPr>
        <p:spPr>
          <a:xfrm>
            <a:off x="406400" y="6337300"/>
            <a:ext cx="55626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64000"/>
              </a:lnSpc>
              <a:buNone/>
            </a:pPr>
            <a:r>
              <a:rPr lang="zh-CN" sz="851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注：第 7 题为单选题，74 份答卷勾选了两个选项，系统按第一项计入；购买场景为多选题，各项之和大于 100%。</a:t>
            </a:r>
          </a:p>
        </p:txBody>
      </p:sp>
      <p:sp>
        <p:nvSpPr>
          <p:cNvPr id="132" name="rect 85"/>
          <p:cNvSpPr/>
          <p:nvPr/>
        </p:nvSpPr>
        <p:spPr>
          <a:xfrm>
            <a:off x="10490200" y="6337300"/>
            <a:ext cx="1295400" cy="127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64000"/>
              </a:lnSpc>
              <a:buNone/>
            </a:pPr>
            <a:r>
              <a:rPr lang="zh-CN" sz="851">
                <a:solidFill>
                  <a:srgbClr val="B9A392"/>
                </a:solidFill>
                <a:latin typeface="Microsoft YaHei"/>
                <a:ea typeface="Microsoft YaHei"/>
                <a:extLst>
                  <a:ext uri="https://univer.ai/xml/pptx/font-fallback/2026/main">
                    <uf:fontFallback xmlns:uf="https://univer.ai/xml/pptx/font-fallback/2026/main" family="Microsoft YaHei, Source Han Sans SC, sans-serif" latin="Microsoft YaHei" ea="Microsoft YaHei" sym=""/>
                  </a:ext>
                </a:extLst>
              </a:rPr>
              <a:t>江晓　温言　罗青　方悦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数据总览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数据总览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